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349" r:id="rId3"/>
    <p:sldId id="348" r:id="rId4"/>
    <p:sldId id="347" r:id="rId5"/>
    <p:sldId id="278" r:id="rId6"/>
    <p:sldId id="279" r:id="rId7"/>
    <p:sldId id="280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334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35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316" r:id="rId43"/>
    <p:sldId id="337" r:id="rId44"/>
    <p:sldId id="346" r:id="rId45"/>
    <p:sldId id="338" r:id="rId46"/>
    <p:sldId id="339" r:id="rId47"/>
    <p:sldId id="340" r:id="rId48"/>
    <p:sldId id="341" r:id="rId49"/>
    <p:sldId id="317" r:id="rId50"/>
    <p:sldId id="318" r:id="rId51"/>
    <p:sldId id="319" r:id="rId52"/>
    <p:sldId id="320" r:id="rId53"/>
    <p:sldId id="321" r:id="rId54"/>
    <p:sldId id="322" r:id="rId55"/>
    <p:sldId id="323" r:id="rId56"/>
    <p:sldId id="324" r:id="rId57"/>
    <p:sldId id="325" r:id="rId58"/>
    <p:sldId id="326" r:id="rId59"/>
    <p:sldId id="327" r:id="rId60"/>
    <p:sldId id="336" r:id="rId61"/>
    <p:sldId id="328" r:id="rId62"/>
    <p:sldId id="329" r:id="rId63"/>
    <p:sldId id="330" r:id="rId64"/>
    <p:sldId id="331" r:id="rId65"/>
    <p:sldId id="332" r:id="rId66"/>
    <p:sldId id="342" r:id="rId67"/>
    <p:sldId id="344" r:id="rId68"/>
    <p:sldId id="343" r:id="rId69"/>
    <p:sldId id="345" r:id="rId70"/>
    <p:sldId id="333" r:id="rId71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-437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7E1C8F-B75B-7E14-F172-F44D7BFF1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47A4B51-8A69-CB83-193E-C4000EC0C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5930280-CC1E-E88C-CC9F-6D5F088D5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A6159-B647-4911-9AC8-F136112E6869}" type="datetimeFigureOut">
              <a:rPr lang="en-IN" smtClean="0"/>
              <a:pPr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645CBB2-5EEC-E7BF-8509-4497B0CB5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CE1ABC8-18C8-279E-BE54-62F6782BA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164DD-16C4-400A-9DEE-B5372D20FD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272363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71C256-48D6-CDDE-4605-B51FB8D69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419E563-1772-27B3-BE05-0603FDED5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12EC102-8C2D-462A-74B6-D7453BCD2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A6159-B647-4911-9AC8-F136112E6869}" type="datetimeFigureOut">
              <a:rPr lang="en-IN" smtClean="0"/>
              <a:pPr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D63AA8-66D4-B1CF-6621-A4DD930B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D894C4C-6CD9-3E9B-CDBF-8E779C19D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164DD-16C4-400A-9DEE-B5372D20FD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27923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CC6651-45A9-5487-62A1-8A576D101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7C58EF6-9667-F599-5758-F06CDB5C5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1FF8443-70F0-2860-B9F8-7AD1FE46F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A6159-B647-4911-9AC8-F136112E6869}" type="datetimeFigureOut">
              <a:rPr lang="en-IN" smtClean="0"/>
              <a:pPr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2BA4BB1-9F3E-DCA1-16F6-846E5DD6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F1729AE-6689-8C18-846C-0B5D6906E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164DD-16C4-400A-9DEE-B5372D20FD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922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74F518-8E3D-10A5-EDC3-BBA640FD9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216006-390E-A302-BE8E-D7A19E3B6F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C59E55C-52DC-F89D-8183-D5A800739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07CE6BC-9BF0-8054-8FD7-C97A8304F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A6159-B647-4911-9AC8-F136112E6869}" type="datetimeFigureOut">
              <a:rPr lang="en-IN" smtClean="0"/>
              <a:pPr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E377297-5CF3-ABA3-5E18-7402DBEDF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3F7C77F-F49C-8351-454B-1EBD58419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164DD-16C4-400A-9DEE-B5372D20FD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91373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C61188-9881-EAE4-A541-1294EBCC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12083EB-31A5-9912-51F4-CA8BF0943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49B76E4-5C10-B63A-4509-CDE039E95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002E4E6-A6D7-00B7-2426-D469B7EE1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88F3AB2-49A0-48BF-6867-0EA5793B8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13FDA26-4353-1DBF-D0DE-B7561AED8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A6159-B647-4911-9AC8-F136112E6869}" type="datetimeFigureOut">
              <a:rPr lang="en-IN" smtClean="0"/>
              <a:pPr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590DE38-9F1D-2468-293D-0CAB68492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3289F057-7B6F-C96C-EB42-87225A0E2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164DD-16C4-400A-9DEE-B5372D20FD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46365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2DE07C-3E3A-9B88-BFAD-F5E37812E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E6156A8-C1C9-4233-72D1-4BE3DCC87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A6159-B647-4911-9AC8-F136112E6869}" type="datetimeFigureOut">
              <a:rPr lang="en-IN" smtClean="0"/>
              <a:pPr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A6BF484-26B3-19FA-0DA7-D7A78E59B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F733026-7265-BD7F-4D5A-A5B1D6ADF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164DD-16C4-400A-9DEE-B5372D20FD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21754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05744BE-3468-FF71-6AE8-6EFEF74F2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A6159-B647-4911-9AC8-F136112E6869}" type="datetimeFigureOut">
              <a:rPr lang="en-IN" smtClean="0"/>
              <a:pPr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E096B62-D035-3680-7FA3-4F9F10F17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7178AE2-E5E1-A997-C060-F105D3A5D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164DD-16C4-400A-9DEE-B5372D20FD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0543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2E3B4B-95B8-D1C0-081D-93992D81B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BD41C7D-77B6-B2C9-EB3C-3EC2E33A2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7F24BA8-2C82-6DA1-6E86-11D51741F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1529830-5270-C949-8BF9-EBC8A6FCD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A6159-B647-4911-9AC8-F136112E6869}" type="datetimeFigureOut">
              <a:rPr lang="en-IN" smtClean="0"/>
              <a:pPr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3D534BB-8C6D-A5D7-0718-132521C53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8511D07-C0CF-50D6-8A41-29F05BC7B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164DD-16C4-400A-9DEE-B5372D20FD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01863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E9162E-9787-421B-8973-97F32B63C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CADAAC6-CC43-F928-22EC-7717DC972F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9C3F6CD-DD1F-1C7B-66FF-A2125E368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B45727E-0FF0-1326-235C-D6EA2183E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A6159-B647-4911-9AC8-F136112E6869}" type="datetimeFigureOut">
              <a:rPr lang="en-IN" smtClean="0"/>
              <a:pPr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32756B-BE09-39F3-05AD-6FF152FFA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0E8EAC4-E2BC-2139-F7B5-692FB711A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164DD-16C4-400A-9DEE-B5372D20FD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28800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586E10-62CE-E20A-08DA-A0D317A34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B5E5966-52CE-FCBE-EBDC-0D312B124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B2E5510-2A5E-EEE1-0245-68302F31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A6159-B647-4911-9AC8-F136112E6869}" type="datetimeFigureOut">
              <a:rPr lang="en-IN" smtClean="0"/>
              <a:pPr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E571EA4-8D34-01D1-FF09-C640C1C8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535CAE9-FB25-A807-29F2-B2235ECF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164DD-16C4-400A-9DEE-B5372D20FD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43955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EE9AC63-773A-1FE6-0BDA-05F1C3868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813DBE2-C46B-F07F-BBCE-B22BCA3B3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D1CBBBC-ED76-3E3C-155E-7F1A41C4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A6159-B647-4911-9AC8-F136112E6869}" type="datetimeFigureOut">
              <a:rPr lang="en-IN" smtClean="0"/>
              <a:pPr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C660695-56E0-B680-C138-EF80D496F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B730697-230B-7E7D-4D9E-35C58140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164DD-16C4-400A-9DEE-B5372D20FD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92512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018EC26-256C-DEE1-991E-DA5D4533C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A009919-F6BE-EA00-7F58-E1916F6A4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4C0934B-4B37-4791-0660-C419F4927A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A6159-B647-4911-9AC8-F136112E6869}" type="datetimeFigureOut">
              <a:rPr lang="en-IN" smtClean="0"/>
              <a:pPr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F1082C9-171C-433B-37F5-05A891530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3D1D788-2C84-B57B-422E-81E7159332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2164DD-16C4-400A-9DEE-B5372D20FD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79017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31B2D1-0414-B079-6E81-D2732D2134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SQL</a:t>
            </a:r>
            <a:br>
              <a:rPr lang="en-IN" dirty="0"/>
            </a:br>
            <a:r>
              <a:rPr lang="en-IN" dirty="0"/>
              <a:t>Day 2</a:t>
            </a:r>
          </a:p>
        </p:txBody>
      </p:sp>
    </p:spTree>
    <p:extLst>
      <p:ext uri="{BB962C8B-B14F-4D97-AF65-F5344CB8AC3E}">
        <p14:creationId xmlns:p14="http://schemas.microsoft.com/office/powerpoint/2010/main" xmlns="" val="3226907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6E4BB659-4FB5-6E58-6762-AF6131BA51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221407375"/>
              </p:ext>
            </p:extLst>
          </p:nvPr>
        </p:nvGraphicFramePr>
        <p:xfrm>
          <a:off x="643467" y="660410"/>
          <a:ext cx="10905068" cy="5537196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1626900">
                  <a:extLst>
                    <a:ext uri="{9D8B030D-6E8A-4147-A177-3AD203B41FA5}">
                      <a16:colId xmlns:a16="http://schemas.microsoft.com/office/drawing/2014/main" xmlns="" val="3033595625"/>
                    </a:ext>
                  </a:extLst>
                </a:gridCol>
                <a:gridCol w="2774854">
                  <a:extLst>
                    <a:ext uri="{9D8B030D-6E8A-4147-A177-3AD203B41FA5}">
                      <a16:colId xmlns:a16="http://schemas.microsoft.com/office/drawing/2014/main" xmlns="" val="4059323535"/>
                    </a:ext>
                  </a:extLst>
                </a:gridCol>
                <a:gridCol w="4610801">
                  <a:extLst>
                    <a:ext uri="{9D8B030D-6E8A-4147-A177-3AD203B41FA5}">
                      <a16:colId xmlns:a16="http://schemas.microsoft.com/office/drawing/2014/main" xmlns="" val="3998654991"/>
                    </a:ext>
                  </a:extLst>
                </a:gridCol>
                <a:gridCol w="1892513">
                  <a:extLst>
                    <a:ext uri="{9D8B030D-6E8A-4147-A177-3AD203B41FA5}">
                      <a16:colId xmlns:a16="http://schemas.microsoft.com/office/drawing/2014/main" xmlns="" val="1559563298"/>
                    </a:ext>
                  </a:extLst>
                </a:gridCol>
              </a:tblGrid>
              <a:tr h="2636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Day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Topic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Chapter Details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Time Duration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extLst>
                  <a:ext uri="{0D108BD9-81ED-4DB2-BD59-A6C34878D82A}">
                    <a16:rowId xmlns:a16="http://schemas.microsoft.com/office/drawing/2014/main" xmlns="" val="756120968"/>
                  </a:ext>
                </a:extLst>
              </a:tr>
              <a:tr h="263676">
                <a:tc rowSpan="20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Day 2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ctr"/>
                </a:tc>
                <a:tc rowSpan="8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Operators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Debugging errors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 rowSpan="8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60 mins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ctr"/>
                </a:tc>
                <a:extLst>
                  <a:ext uri="{0D108BD9-81ED-4DB2-BD59-A6C34878D82A}">
                    <a16:rowId xmlns:a16="http://schemas.microsoft.com/office/drawing/2014/main" xmlns="" val="2523079525"/>
                  </a:ext>
                </a:extLst>
              </a:tr>
              <a:tr h="2636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SQL style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7200202"/>
                  </a:ext>
                </a:extLst>
              </a:tr>
              <a:tr h="2636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Using WHERE with numbers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79885367"/>
                  </a:ext>
                </a:extLst>
              </a:tr>
              <a:tr h="2636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Using WHERE with text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24372542"/>
                  </a:ext>
                </a:extLst>
              </a:tr>
              <a:tr h="2636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Using AND and OR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83821755"/>
                  </a:ext>
                </a:extLst>
              </a:tr>
              <a:tr h="2636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Using BETWEEN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55741214"/>
                  </a:ext>
                </a:extLst>
              </a:tr>
              <a:tr h="2636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Filtering text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35998403"/>
                  </a:ext>
                </a:extLst>
              </a:tr>
              <a:tr h="2636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LIKE and NOT LIKE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97156026"/>
                  </a:ext>
                </a:extLst>
              </a:tr>
              <a:tr h="2636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5 mins Break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28843071"/>
                  </a:ext>
                </a:extLst>
              </a:tr>
              <a:tr h="2636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1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Built-in functions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WHERE IN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 rowSpan="1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60 mins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ctr"/>
                </a:tc>
                <a:extLst>
                  <a:ext uri="{0D108BD9-81ED-4DB2-BD59-A6C34878D82A}">
                    <a16:rowId xmlns:a16="http://schemas.microsoft.com/office/drawing/2014/main" xmlns="" val="2837068242"/>
                  </a:ext>
                </a:extLst>
              </a:tr>
              <a:tr h="2636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Combining filtering and selecting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11991381"/>
                  </a:ext>
                </a:extLst>
              </a:tr>
              <a:tr h="2636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NULL values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55673075"/>
                  </a:ext>
                </a:extLst>
              </a:tr>
              <a:tr h="2636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What does NULL mean?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65397456"/>
                  </a:ext>
                </a:extLst>
              </a:tr>
              <a:tr h="2636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Aggregate functions and data types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39724148"/>
                  </a:ext>
                </a:extLst>
              </a:tr>
              <a:tr h="2636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Practice with aggregate functions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98298"/>
                  </a:ext>
                </a:extLst>
              </a:tr>
              <a:tr h="2636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Summarizing subsets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42118993"/>
                  </a:ext>
                </a:extLst>
              </a:tr>
              <a:tr h="2636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Combining aggregate functions with WHERE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07753402"/>
                  </a:ext>
                </a:extLst>
              </a:tr>
              <a:tr h="2636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Using ROUND()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15750259"/>
                  </a:ext>
                </a:extLst>
              </a:tr>
              <a:tr h="2636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>
                          <a:effectLst/>
                        </a:rPr>
                        <a:t>ROUND() with a negative parameter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51990596"/>
                  </a:ext>
                </a:extLst>
              </a:tr>
              <a:tr h="2636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0" dirty="0">
                          <a:effectLst/>
                        </a:rPr>
                        <a:t>Aliasing and arithmetic; functions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29" marR="79129" marT="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95904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0949831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72.png">
            <a:extLst>
              <a:ext uri="{FF2B5EF4-FFF2-40B4-BE49-F238E27FC236}">
                <a16:creationId xmlns:a16="http://schemas.microsoft.com/office/drawing/2014/main" xmlns="" id="{6681CA86-5EF2-DAA6-BA26-E9E23F01386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56610" y="42545"/>
            <a:ext cx="5478780" cy="677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1984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42E6424-E4E6-8DDD-1F6E-C8EB70D5555F}"/>
              </a:ext>
            </a:extLst>
          </p:cNvPr>
          <p:cNvSpPr txBox="1"/>
          <p:nvPr/>
        </p:nvSpPr>
        <p:spPr>
          <a:xfrm>
            <a:off x="742071" y="707548"/>
            <a:ext cx="6098344" cy="4926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6255" marR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Recap:</a:t>
            </a:r>
          </a:p>
          <a:p>
            <a:pPr marL="516255" marR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6255" marR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DECLARE</a:t>
            </a:r>
            <a:r>
              <a:rPr lang="en-US" sz="18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@VAR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DECIMAL(6,2)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6255" marR="0">
              <a:spcBef>
                <a:spcPts val="1195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SET</a:t>
            </a:r>
            <a:r>
              <a:rPr lang="en-US" sz="18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@VAR=100.55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6255" marR="0">
              <a:spcBef>
                <a:spcPts val="119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</a:t>
            </a:r>
            <a:r>
              <a:rPr lang="en-US" sz="18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@var</a:t>
            </a:r>
          </a:p>
          <a:p>
            <a:pPr marL="516255" marR="0">
              <a:spcBef>
                <a:spcPts val="1190"/>
              </a:spcBef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6255" marR="0">
              <a:spcBef>
                <a:spcPts val="1190"/>
              </a:spcBef>
              <a:spcAft>
                <a:spcPts val="0"/>
              </a:spcAft>
            </a:pP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6255" marR="0">
              <a:spcBef>
                <a:spcPts val="1190"/>
              </a:spcBef>
              <a:spcAft>
                <a:spcPts val="0"/>
              </a:spcAft>
            </a:pP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6255" marR="0">
              <a:spcBef>
                <a:spcPts val="1190"/>
              </a:spcBef>
              <a:spcAft>
                <a:spcPts val="0"/>
              </a:spcAft>
            </a:pP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6255" marR="0">
              <a:spcBef>
                <a:spcPts val="445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DECLARE</a:t>
            </a:r>
            <a:r>
              <a:rPr lang="en-US" sz="18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@b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char(5);</a:t>
            </a:r>
          </a:p>
          <a:p>
            <a:pPr marL="0" marR="0">
              <a:spcBef>
                <a:spcPts val="1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516255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SET</a:t>
            </a:r>
            <a:r>
              <a:rPr lang="en-US" sz="18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@b='SQL';</a:t>
            </a:r>
          </a:p>
          <a:p>
            <a:pPr marL="0" marR="0">
              <a:spcBef>
                <a:spcPts val="5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516255" marR="0">
              <a:spcBef>
                <a:spcPts val="5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</a:t>
            </a:r>
            <a:r>
              <a:rPr lang="en-US" sz="1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@b</a:t>
            </a:r>
          </a:p>
          <a:p>
            <a:pPr marL="516255" marR="0">
              <a:spcBef>
                <a:spcPts val="1190"/>
              </a:spcBef>
              <a:spcAft>
                <a:spcPts val="0"/>
              </a:spcAft>
            </a:pP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AB0FA0C-A3AB-056A-9BF7-6C3EBEBCEC76}"/>
              </a:ext>
            </a:extLst>
          </p:cNvPr>
          <p:cNvSpPr txBox="1"/>
          <p:nvPr/>
        </p:nvSpPr>
        <p:spPr>
          <a:xfrm>
            <a:off x="5553222" y="2801711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DECLARE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@a int;</a:t>
            </a:r>
            <a:r>
              <a:rPr lang="en-US" sz="1800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SET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@a=2;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</a:t>
            </a:r>
            <a:r>
              <a:rPr lang="en-US" sz="18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@a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28494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pter3_page-0002">
            <a:extLst>
              <a:ext uri="{FF2B5EF4-FFF2-40B4-BE49-F238E27FC236}">
                <a16:creationId xmlns:a16="http://schemas.microsoft.com/office/drawing/2014/main" xmlns="" id="{A478037C-A7A5-80E3-8E67-43F09531CDC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73075"/>
            <a:ext cx="12192000" cy="591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97060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pter3_page-0003">
            <a:extLst>
              <a:ext uri="{FF2B5EF4-FFF2-40B4-BE49-F238E27FC236}">
                <a16:creationId xmlns:a16="http://schemas.microsoft.com/office/drawing/2014/main" xmlns="" id="{6E2BFDAF-983F-8AF2-09A5-C145522E5D7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68363"/>
            <a:ext cx="12192000" cy="512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50939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pter3_page-0004">
            <a:extLst>
              <a:ext uri="{FF2B5EF4-FFF2-40B4-BE49-F238E27FC236}">
                <a16:creationId xmlns:a16="http://schemas.microsoft.com/office/drawing/2014/main" xmlns="" id="{4EAF01CD-EB3B-59BE-1F11-6E322616812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92200"/>
            <a:ext cx="12192000" cy="467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14231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pter3_page-0008">
            <a:extLst>
              <a:ext uri="{FF2B5EF4-FFF2-40B4-BE49-F238E27FC236}">
                <a16:creationId xmlns:a16="http://schemas.microsoft.com/office/drawing/2014/main" xmlns="" id="{9D64590A-E52B-2849-8F85-B1D654A191A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74725"/>
            <a:ext cx="12192000" cy="490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2646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pter3_page-0010">
            <a:extLst>
              <a:ext uri="{FF2B5EF4-FFF2-40B4-BE49-F238E27FC236}">
                <a16:creationId xmlns:a16="http://schemas.microsoft.com/office/drawing/2014/main" xmlns="" id="{D5DA5E00-A5F1-431A-885B-76F0F8229B3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01813"/>
            <a:ext cx="12192000" cy="325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04268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pter3_page-0011">
            <a:extLst>
              <a:ext uri="{FF2B5EF4-FFF2-40B4-BE49-F238E27FC236}">
                <a16:creationId xmlns:a16="http://schemas.microsoft.com/office/drawing/2014/main" xmlns="" id="{A34158AD-9E15-2E58-6C57-AB1373BDBCA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28713"/>
            <a:ext cx="12192000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0247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pter3_page-0012">
            <a:extLst>
              <a:ext uri="{FF2B5EF4-FFF2-40B4-BE49-F238E27FC236}">
                <a16:creationId xmlns:a16="http://schemas.microsoft.com/office/drawing/2014/main" xmlns="" id="{5DE29AA6-63B2-4482-8918-29C793275CE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92188"/>
            <a:ext cx="12192000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12400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pter3_page-0013">
            <a:extLst>
              <a:ext uri="{FF2B5EF4-FFF2-40B4-BE49-F238E27FC236}">
                <a16:creationId xmlns:a16="http://schemas.microsoft.com/office/drawing/2014/main" xmlns="" id="{E0DFBC16-3335-C246-0189-3B0A14B37F6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19188"/>
            <a:ext cx="12192000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67727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pter3_page-0014">
            <a:extLst>
              <a:ext uri="{FF2B5EF4-FFF2-40B4-BE49-F238E27FC236}">
                <a16:creationId xmlns:a16="http://schemas.microsoft.com/office/drawing/2014/main" xmlns="" id="{DC5299EE-E039-7279-2CD8-A0BC8DE68EE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65200"/>
            <a:ext cx="12192000" cy="492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2653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pter3_page-0015">
            <a:extLst>
              <a:ext uri="{FF2B5EF4-FFF2-40B4-BE49-F238E27FC236}">
                <a16:creationId xmlns:a16="http://schemas.microsoft.com/office/drawing/2014/main" xmlns="" id="{85015D6A-6057-4800-7D43-5D1048D305A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11263"/>
            <a:ext cx="12192000" cy="443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56527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pter3_page-0016">
            <a:extLst>
              <a:ext uri="{FF2B5EF4-FFF2-40B4-BE49-F238E27FC236}">
                <a16:creationId xmlns:a16="http://schemas.microsoft.com/office/drawing/2014/main" xmlns="" id="{F6E87755-D936-B7C4-451F-272F333B3FA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96950"/>
            <a:ext cx="121920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66740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pter3_page-0018">
            <a:extLst>
              <a:ext uri="{FF2B5EF4-FFF2-40B4-BE49-F238E27FC236}">
                <a16:creationId xmlns:a16="http://schemas.microsoft.com/office/drawing/2014/main" xmlns="" id="{446FADC8-5CCC-ADE6-AF83-6792EDDCC0C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38325"/>
            <a:ext cx="121920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74861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pter3_page-0019">
            <a:extLst>
              <a:ext uri="{FF2B5EF4-FFF2-40B4-BE49-F238E27FC236}">
                <a16:creationId xmlns:a16="http://schemas.microsoft.com/office/drawing/2014/main" xmlns="" id="{D22B1DEF-DDBE-C77D-3F7E-B9219475EC4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38163"/>
            <a:ext cx="12192000" cy="578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19754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pter3_page-0020">
            <a:extLst>
              <a:ext uri="{FF2B5EF4-FFF2-40B4-BE49-F238E27FC236}">
                <a16:creationId xmlns:a16="http://schemas.microsoft.com/office/drawing/2014/main" xmlns="" id="{0045017D-7AAD-C8D4-345B-5F6C2D04D52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92288"/>
            <a:ext cx="12192000" cy="327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38556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pter3_page-0021">
            <a:extLst>
              <a:ext uri="{FF2B5EF4-FFF2-40B4-BE49-F238E27FC236}">
                <a16:creationId xmlns:a16="http://schemas.microsoft.com/office/drawing/2014/main" xmlns="" id="{206231D2-79A8-BC64-D735-F26320DF84E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06400"/>
            <a:ext cx="12192000" cy="604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35723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pter3_page-0022">
            <a:extLst>
              <a:ext uri="{FF2B5EF4-FFF2-40B4-BE49-F238E27FC236}">
                <a16:creationId xmlns:a16="http://schemas.microsoft.com/office/drawing/2014/main" xmlns="" id="{9FCFF228-F0F7-2F4E-A109-8B4E7D6D4F2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00075"/>
            <a:ext cx="12192000" cy="565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3111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pter3_page-0023">
            <a:extLst>
              <a:ext uri="{FF2B5EF4-FFF2-40B4-BE49-F238E27FC236}">
                <a16:creationId xmlns:a16="http://schemas.microsoft.com/office/drawing/2014/main" xmlns="" id="{5EB9BD77-6F2C-FEBA-4F70-2E3CFF9A160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17575"/>
            <a:ext cx="12192000" cy="502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25714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pter3_page-0024">
            <a:extLst>
              <a:ext uri="{FF2B5EF4-FFF2-40B4-BE49-F238E27FC236}">
                <a16:creationId xmlns:a16="http://schemas.microsoft.com/office/drawing/2014/main" xmlns="" id="{39AEB348-BB19-19E8-3EF0-10F6809EBA2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03275"/>
            <a:ext cx="12192000" cy="524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17371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E0E2243-DF29-4F5A-6136-CEEA57480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309" y="121633"/>
            <a:ext cx="8329382" cy="661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28389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01">
            <a:extLst>
              <a:ext uri="{FF2B5EF4-FFF2-40B4-BE49-F238E27FC236}">
                <a16:creationId xmlns:a16="http://schemas.microsoft.com/office/drawing/2014/main" xmlns="" id="{83959EA2-D4B9-485C-66F6-FECD66AA035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287588"/>
            <a:ext cx="12192000" cy="228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479380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02">
            <a:extLst>
              <a:ext uri="{FF2B5EF4-FFF2-40B4-BE49-F238E27FC236}">
                <a16:creationId xmlns:a16="http://schemas.microsoft.com/office/drawing/2014/main" xmlns="" id="{A49CBC38-D3ED-0475-78DF-BB5D2BCBD67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14363"/>
            <a:ext cx="12192000" cy="562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62759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03">
            <a:extLst>
              <a:ext uri="{FF2B5EF4-FFF2-40B4-BE49-F238E27FC236}">
                <a16:creationId xmlns:a16="http://schemas.microsoft.com/office/drawing/2014/main" xmlns="" id="{A374C1E9-9DEF-2393-0846-1436935E458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00063"/>
            <a:ext cx="12192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14794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04">
            <a:extLst>
              <a:ext uri="{FF2B5EF4-FFF2-40B4-BE49-F238E27FC236}">
                <a16:creationId xmlns:a16="http://schemas.microsoft.com/office/drawing/2014/main" xmlns="" id="{D7ACFC90-6D68-7255-FD77-A8B0D36E3B1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95300"/>
            <a:ext cx="121920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55099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05">
            <a:extLst>
              <a:ext uri="{FF2B5EF4-FFF2-40B4-BE49-F238E27FC236}">
                <a16:creationId xmlns:a16="http://schemas.microsoft.com/office/drawing/2014/main" xmlns="" id="{2E70BDBC-CAEF-0ECE-E4CF-B86AF28FA8A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71475"/>
            <a:ext cx="12192000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015678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06">
            <a:extLst>
              <a:ext uri="{FF2B5EF4-FFF2-40B4-BE49-F238E27FC236}">
                <a16:creationId xmlns:a16="http://schemas.microsoft.com/office/drawing/2014/main" xmlns="" id="{D16F91EC-4A05-A920-5E84-8180871C482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33375"/>
            <a:ext cx="12192000" cy="61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766322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07">
            <a:extLst>
              <a:ext uri="{FF2B5EF4-FFF2-40B4-BE49-F238E27FC236}">
                <a16:creationId xmlns:a16="http://schemas.microsoft.com/office/drawing/2014/main" xmlns="" id="{F52E4020-C51A-4E23-268A-01C2303A46B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57213"/>
            <a:ext cx="12192000" cy="574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048692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08">
            <a:extLst>
              <a:ext uri="{FF2B5EF4-FFF2-40B4-BE49-F238E27FC236}">
                <a16:creationId xmlns:a16="http://schemas.microsoft.com/office/drawing/2014/main" xmlns="" id="{164218D8-7DE7-53CE-66F1-87CECC291D1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42913"/>
            <a:ext cx="12192000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16294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4EBDF85-5EFF-B614-6D6B-B61263034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309" y="414723"/>
            <a:ext cx="10215827" cy="602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93271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09">
            <a:extLst>
              <a:ext uri="{FF2B5EF4-FFF2-40B4-BE49-F238E27FC236}">
                <a16:creationId xmlns:a16="http://schemas.microsoft.com/office/drawing/2014/main" xmlns="" id="{A3011267-99F9-B287-BDCA-24835B52319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33475"/>
            <a:ext cx="1219200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589777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10">
            <a:extLst>
              <a:ext uri="{FF2B5EF4-FFF2-40B4-BE49-F238E27FC236}">
                <a16:creationId xmlns:a16="http://schemas.microsoft.com/office/drawing/2014/main" xmlns="" id="{818A30F8-A85B-2F52-8926-63924F8C380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38138"/>
            <a:ext cx="12192000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511978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11">
            <a:extLst>
              <a:ext uri="{FF2B5EF4-FFF2-40B4-BE49-F238E27FC236}">
                <a16:creationId xmlns:a16="http://schemas.microsoft.com/office/drawing/2014/main" xmlns="" id="{D954D3C8-EB3D-B83F-306E-0CB7AB2DE1C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79550"/>
            <a:ext cx="12192000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186804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17">
            <a:extLst>
              <a:ext uri="{FF2B5EF4-FFF2-40B4-BE49-F238E27FC236}">
                <a16:creationId xmlns:a16="http://schemas.microsoft.com/office/drawing/2014/main" xmlns="" id="{0E359149-7689-B530-5E9B-B82A3CC52EC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85763"/>
            <a:ext cx="12192000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058239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18">
            <a:extLst>
              <a:ext uri="{FF2B5EF4-FFF2-40B4-BE49-F238E27FC236}">
                <a16:creationId xmlns:a16="http://schemas.microsoft.com/office/drawing/2014/main" xmlns="" id="{F5731720-AA51-BECB-BDA3-5CF6D1AAB48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01638"/>
            <a:ext cx="12192000" cy="60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188131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19">
            <a:extLst>
              <a:ext uri="{FF2B5EF4-FFF2-40B4-BE49-F238E27FC236}">
                <a16:creationId xmlns:a16="http://schemas.microsoft.com/office/drawing/2014/main" xmlns="" id="{F62070E5-B380-7517-533E-1A6A1E9E806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85763"/>
            <a:ext cx="12192000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193289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20">
            <a:extLst>
              <a:ext uri="{FF2B5EF4-FFF2-40B4-BE49-F238E27FC236}">
                <a16:creationId xmlns:a16="http://schemas.microsoft.com/office/drawing/2014/main" xmlns="" id="{EDA1167E-0ECF-09DC-ACCE-FBBCD946395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38138"/>
            <a:ext cx="12192000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589378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21">
            <a:extLst>
              <a:ext uri="{FF2B5EF4-FFF2-40B4-BE49-F238E27FC236}">
                <a16:creationId xmlns:a16="http://schemas.microsoft.com/office/drawing/2014/main" xmlns="" id="{49646DB0-8432-FD55-F04F-BC7D1F795B0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44488"/>
            <a:ext cx="12192000" cy="616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88653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22">
            <a:extLst>
              <a:ext uri="{FF2B5EF4-FFF2-40B4-BE49-F238E27FC236}">
                <a16:creationId xmlns:a16="http://schemas.microsoft.com/office/drawing/2014/main" xmlns="" id="{3EDC6F08-0F54-EDEB-C685-A5C98202388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58775"/>
            <a:ext cx="12192000" cy="613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364566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23">
            <a:extLst>
              <a:ext uri="{FF2B5EF4-FFF2-40B4-BE49-F238E27FC236}">
                <a16:creationId xmlns:a16="http://schemas.microsoft.com/office/drawing/2014/main" xmlns="" id="{C98FA1EB-A8FC-B97D-5491-581603828B0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58775"/>
            <a:ext cx="12192000" cy="613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512136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D69A49B-F37C-6C5B-0487-B51704879FCC}"/>
              </a:ext>
            </a:extLst>
          </p:cNvPr>
          <p:cNvSpPr txBox="1"/>
          <p:nvPr/>
        </p:nvSpPr>
        <p:spPr>
          <a:xfrm>
            <a:off x="1526222" y="219020"/>
            <a:ext cx="742082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Case study 1</a:t>
            </a:r>
          </a:p>
          <a:p>
            <a:endParaRPr lang="en-IN" sz="2800" dirty="0"/>
          </a:p>
          <a:p>
            <a:r>
              <a:rPr lang="en-IN" sz="2800" dirty="0"/>
              <a:t>CREATE TABLE Employees (</a:t>
            </a:r>
          </a:p>
          <a:p>
            <a:r>
              <a:rPr lang="en-IN" sz="2800" dirty="0"/>
              <a:t>  </a:t>
            </a:r>
            <a:r>
              <a:rPr lang="en-IN" sz="2800" dirty="0" err="1"/>
              <a:t>emp_id</a:t>
            </a:r>
            <a:r>
              <a:rPr lang="en-IN" sz="2800" dirty="0"/>
              <a:t>        INTEGER PRIMARY KEY,</a:t>
            </a:r>
          </a:p>
          <a:p>
            <a:r>
              <a:rPr lang="en-IN" sz="2800" dirty="0"/>
              <a:t>  </a:t>
            </a:r>
            <a:r>
              <a:rPr lang="en-IN" sz="2800" dirty="0" err="1"/>
              <a:t>first_name</a:t>
            </a:r>
            <a:r>
              <a:rPr lang="en-IN" sz="2800" dirty="0"/>
              <a:t>    VARCHAR(50),</a:t>
            </a:r>
          </a:p>
          <a:p>
            <a:r>
              <a:rPr lang="en-IN" sz="2800" dirty="0"/>
              <a:t>  </a:t>
            </a:r>
            <a:r>
              <a:rPr lang="en-IN" sz="2800" dirty="0" err="1"/>
              <a:t>last_name</a:t>
            </a:r>
            <a:r>
              <a:rPr lang="en-IN" sz="2800" dirty="0"/>
              <a:t>     VARCHAR(50),</a:t>
            </a:r>
          </a:p>
          <a:p>
            <a:r>
              <a:rPr lang="en-IN" sz="2800" dirty="0"/>
              <a:t>  department    VARCHAR(50),</a:t>
            </a:r>
          </a:p>
          <a:p>
            <a:r>
              <a:rPr lang="en-IN" sz="2800" dirty="0"/>
              <a:t>  position      VARCHAR(50),</a:t>
            </a:r>
          </a:p>
          <a:p>
            <a:r>
              <a:rPr lang="en-IN" sz="2800" dirty="0"/>
              <a:t>  </a:t>
            </a:r>
            <a:r>
              <a:rPr lang="en-IN" sz="2800" dirty="0" err="1"/>
              <a:t>hire_date</a:t>
            </a:r>
            <a:r>
              <a:rPr lang="en-IN" sz="2800" dirty="0"/>
              <a:t>     DATE,</a:t>
            </a:r>
          </a:p>
          <a:p>
            <a:r>
              <a:rPr lang="en-IN" sz="2800" dirty="0"/>
              <a:t>  salary        DECIMAL(10, 2),</a:t>
            </a:r>
          </a:p>
          <a:p>
            <a:r>
              <a:rPr lang="en-IN" sz="2800" dirty="0"/>
              <a:t>  </a:t>
            </a:r>
            <a:r>
              <a:rPr lang="en-IN" sz="2800" dirty="0" err="1"/>
              <a:t>years_of_exp</a:t>
            </a:r>
            <a:r>
              <a:rPr lang="en-IN" sz="2800" dirty="0"/>
              <a:t>  INTEGER</a:t>
            </a:r>
          </a:p>
          <a:p>
            <a:r>
              <a:rPr lang="en-IN" sz="28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xmlns="" val="2579490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689F55E-B6E0-5D1C-E9F5-0B9D32B2A40F}"/>
              </a:ext>
            </a:extLst>
          </p:cNvPr>
          <p:cNvSpPr txBox="1"/>
          <p:nvPr/>
        </p:nvSpPr>
        <p:spPr>
          <a:xfrm>
            <a:off x="1043283" y="406233"/>
            <a:ext cx="1046408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INSERT INTO Employees (</a:t>
            </a:r>
            <a:r>
              <a:rPr lang="en-IN" sz="2400" dirty="0" err="1"/>
              <a:t>emp_id</a:t>
            </a:r>
            <a:r>
              <a:rPr lang="en-IN" sz="2400" dirty="0"/>
              <a:t>, </a:t>
            </a:r>
            <a:r>
              <a:rPr lang="en-IN" sz="2400" dirty="0" err="1"/>
              <a:t>first_name</a:t>
            </a:r>
            <a:r>
              <a:rPr lang="en-IN" sz="2400" dirty="0"/>
              <a:t>, </a:t>
            </a:r>
            <a:r>
              <a:rPr lang="en-IN" sz="2400" dirty="0" err="1"/>
              <a:t>last_name</a:t>
            </a:r>
            <a:r>
              <a:rPr lang="en-IN" sz="2400" dirty="0"/>
              <a:t>, department, position, </a:t>
            </a:r>
            <a:r>
              <a:rPr lang="en-IN" sz="2400" dirty="0" err="1"/>
              <a:t>hire_date</a:t>
            </a:r>
            <a:r>
              <a:rPr lang="en-IN" sz="2400" dirty="0"/>
              <a:t>, salary, </a:t>
            </a:r>
            <a:r>
              <a:rPr lang="en-IN" sz="2400" dirty="0" err="1"/>
              <a:t>years_of_exp</a:t>
            </a:r>
            <a:r>
              <a:rPr lang="en-IN" sz="2400" dirty="0"/>
              <a:t>)</a:t>
            </a:r>
          </a:p>
          <a:p>
            <a:endParaRPr lang="en-IN" sz="2400" dirty="0"/>
          </a:p>
          <a:p>
            <a:r>
              <a:rPr lang="en-IN" sz="2400" dirty="0"/>
              <a:t>VALUES</a:t>
            </a:r>
          </a:p>
          <a:p>
            <a:r>
              <a:rPr lang="en-IN" sz="2400" dirty="0"/>
              <a:t>(1, 'John', 'Doe', 'Sales', 'Sales Manager', '2020-01-15', 55000.00, 5),</a:t>
            </a:r>
          </a:p>
          <a:p>
            <a:r>
              <a:rPr lang="en-IN" sz="2400" dirty="0"/>
              <a:t>(2, 'Jane', 'Smith', 'Finance', 'Financial Analyst', '2019-07-08', 48000.00, 3),</a:t>
            </a:r>
          </a:p>
          <a:p>
            <a:r>
              <a:rPr lang="en-IN" sz="2400" dirty="0"/>
              <a:t>(3, 'Mike', 'Johnson', 'IT', 'Software Engineer', '2021-03-20', 65000.00, 7),</a:t>
            </a:r>
          </a:p>
          <a:p>
            <a:r>
              <a:rPr lang="en-IN" sz="2400" dirty="0"/>
              <a:t>(4, 'Emily', 'Williams', 'HR', 'HR Manager', '2018-05-10', 60000.00, 8),</a:t>
            </a:r>
          </a:p>
          <a:p>
            <a:r>
              <a:rPr lang="en-IN" sz="2400" dirty="0"/>
              <a:t>(5, 'David', 'Brown', 'Sales', 'Sales Representative', '2022-02-05', 42000.00, 2);</a:t>
            </a:r>
          </a:p>
        </p:txBody>
      </p:sp>
    </p:spTree>
    <p:extLst>
      <p:ext uri="{BB962C8B-B14F-4D97-AF65-F5344CB8AC3E}">
        <p14:creationId xmlns:p14="http://schemas.microsoft.com/office/powerpoint/2010/main" xmlns="" val="26637922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5CA0B97-17DF-9F9F-EA27-4E58F7378A8A}"/>
              </a:ext>
            </a:extLst>
          </p:cNvPr>
          <p:cNvSpPr txBox="1"/>
          <p:nvPr/>
        </p:nvSpPr>
        <p:spPr>
          <a:xfrm>
            <a:off x="1237592" y="1111469"/>
            <a:ext cx="10171305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Question 1:</a:t>
            </a:r>
          </a:p>
          <a:p>
            <a:r>
              <a:rPr lang="en-US" sz="4000" dirty="0"/>
              <a:t> </a:t>
            </a:r>
          </a:p>
          <a:p>
            <a:r>
              <a:rPr lang="en-US" sz="4000" dirty="0"/>
              <a:t>let's solve some more complex problems using the WHERE clause:</a:t>
            </a:r>
          </a:p>
          <a:p>
            <a:endParaRPr lang="en-US" sz="4000" dirty="0"/>
          </a:p>
          <a:p>
            <a:r>
              <a:rPr lang="en-US" sz="4000" dirty="0"/>
              <a:t>Select employees from the Sales department who have more than 4 years of experience.</a:t>
            </a:r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xmlns="" val="10763519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1F4A4D5-F052-296B-9B89-D0EECE8D56E5}"/>
              </a:ext>
            </a:extLst>
          </p:cNvPr>
          <p:cNvSpPr txBox="1"/>
          <p:nvPr/>
        </p:nvSpPr>
        <p:spPr>
          <a:xfrm>
            <a:off x="1048408" y="874986"/>
            <a:ext cx="929134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Solution 1:</a:t>
            </a:r>
          </a:p>
          <a:p>
            <a:endParaRPr lang="en-US" sz="3600" dirty="0"/>
          </a:p>
          <a:p>
            <a:r>
              <a:rPr lang="en-US" sz="3600" dirty="0"/>
              <a:t>Select employees from the Sales department who have more than 4 years of experience:</a:t>
            </a:r>
          </a:p>
          <a:p>
            <a:endParaRPr lang="en-US" sz="3600" dirty="0"/>
          </a:p>
          <a:p>
            <a:r>
              <a:rPr lang="en-US" sz="3600" dirty="0"/>
              <a:t>SELECT *</a:t>
            </a:r>
          </a:p>
          <a:p>
            <a:r>
              <a:rPr lang="en-US" sz="3600" dirty="0"/>
              <a:t>FROM Employees</a:t>
            </a:r>
          </a:p>
          <a:p>
            <a:r>
              <a:rPr lang="en-US" sz="3600" dirty="0"/>
              <a:t>WHERE department = 'Sales' AND </a:t>
            </a:r>
            <a:r>
              <a:rPr lang="en-US" sz="3600" dirty="0" err="1"/>
              <a:t>years_of_exp</a:t>
            </a:r>
            <a:r>
              <a:rPr lang="en-US" sz="3600" dirty="0"/>
              <a:t> &gt; 4;</a:t>
            </a:r>
            <a:endParaRPr lang="en-IN" sz="36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861499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A0A1E55-D50E-F5CF-D888-24AEFD640404}"/>
              </a:ext>
            </a:extLst>
          </p:cNvPr>
          <p:cNvSpPr txBox="1"/>
          <p:nvPr/>
        </p:nvSpPr>
        <p:spPr>
          <a:xfrm>
            <a:off x="1545020" y="1182414"/>
            <a:ext cx="934337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Question 2: Select employees whose hire date is before January 1, 2021, and their salary is greater than 50000.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772677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0C85D0F-C639-85FA-2C81-E4742051766C}"/>
              </a:ext>
            </a:extLst>
          </p:cNvPr>
          <p:cNvSpPr txBox="1"/>
          <p:nvPr/>
        </p:nvSpPr>
        <p:spPr>
          <a:xfrm>
            <a:off x="1844566" y="1434662"/>
            <a:ext cx="891721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Solution 2:</a:t>
            </a:r>
          </a:p>
          <a:p>
            <a:endParaRPr lang="en-IN" sz="3200" dirty="0"/>
          </a:p>
          <a:p>
            <a:r>
              <a:rPr lang="en-IN" sz="3200" dirty="0"/>
              <a:t>Select employees whose hire date is before January 1, 2021, and their salary is greater than 50000.</a:t>
            </a:r>
          </a:p>
          <a:p>
            <a:endParaRPr lang="en-IN" sz="3200" dirty="0"/>
          </a:p>
          <a:p>
            <a:endParaRPr lang="en-IN" sz="3200" dirty="0"/>
          </a:p>
          <a:p>
            <a:r>
              <a:rPr lang="en-IN" sz="3200" dirty="0"/>
              <a:t>SELECT * FROM Employees WHERE </a:t>
            </a:r>
            <a:r>
              <a:rPr lang="en-IN" sz="3200" dirty="0" err="1"/>
              <a:t>hire_date</a:t>
            </a:r>
            <a:r>
              <a:rPr lang="en-IN" sz="3200" dirty="0"/>
              <a:t> &lt; '2021-01-01' AND salary &gt; 50000.00;</a:t>
            </a:r>
          </a:p>
        </p:txBody>
      </p:sp>
    </p:spTree>
    <p:extLst>
      <p:ext uri="{BB962C8B-B14F-4D97-AF65-F5344CB8AC3E}">
        <p14:creationId xmlns:p14="http://schemas.microsoft.com/office/powerpoint/2010/main" xmlns="" val="2885308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25">
            <a:extLst>
              <a:ext uri="{FF2B5EF4-FFF2-40B4-BE49-F238E27FC236}">
                <a16:creationId xmlns:a16="http://schemas.microsoft.com/office/drawing/2014/main" xmlns="" id="{A9EA1585-6E0B-8AF6-2904-57BA3B1EDB3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90738"/>
            <a:ext cx="12192000" cy="267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503357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26">
            <a:extLst>
              <a:ext uri="{FF2B5EF4-FFF2-40B4-BE49-F238E27FC236}">
                <a16:creationId xmlns:a16="http://schemas.microsoft.com/office/drawing/2014/main" xmlns="" id="{6A574B83-D792-6E50-2B97-75154E0D0D7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23850"/>
            <a:ext cx="1219200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7767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27">
            <a:extLst>
              <a:ext uri="{FF2B5EF4-FFF2-40B4-BE49-F238E27FC236}">
                <a16:creationId xmlns:a16="http://schemas.microsoft.com/office/drawing/2014/main" xmlns="" id="{13594E25-7898-B1E8-268B-B22E86B8035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55763"/>
            <a:ext cx="12192000" cy="354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967785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28">
            <a:extLst>
              <a:ext uri="{FF2B5EF4-FFF2-40B4-BE49-F238E27FC236}">
                <a16:creationId xmlns:a16="http://schemas.microsoft.com/office/drawing/2014/main" xmlns="" id="{376E1898-0F72-6685-E805-932A3D12E15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54013"/>
            <a:ext cx="12192000" cy="614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930388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29">
            <a:extLst>
              <a:ext uri="{FF2B5EF4-FFF2-40B4-BE49-F238E27FC236}">
                <a16:creationId xmlns:a16="http://schemas.microsoft.com/office/drawing/2014/main" xmlns="" id="{99F47E41-E95B-EBDB-D1D9-3EE5ACAEDDF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11163"/>
            <a:ext cx="12192000" cy="603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535303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30">
            <a:extLst>
              <a:ext uri="{FF2B5EF4-FFF2-40B4-BE49-F238E27FC236}">
                <a16:creationId xmlns:a16="http://schemas.microsoft.com/office/drawing/2014/main" xmlns="" id="{BF666091-3506-2AE3-7BEE-983CF032F3C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42913"/>
            <a:ext cx="12192000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568559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31">
            <a:extLst>
              <a:ext uri="{FF2B5EF4-FFF2-40B4-BE49-F238E27FC236}">
                <a16:creationId xmlns:a16="http://schemas.microsoft.com/office/drawing/2014/main" xmlns="" id="{FC8D0C0C-F8C2-DF94-A6F7-8859E44C75C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49250"/>
            <a:ext cx="12192000" cy="615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029550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32">
            <a:extLst>
              <a:ext uri="{FF2B5EF4-FFF2-40B4-BE49-F238E27FC236}">
                <a16:creationId xmlns:a16="http://schemas.microsoft.com/office/drawing/2014/main" xmlns="" id="{05ECA9D7-6288-39CF-0940-A11D9B1F200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41350"/>
            <a:ext cx="12192000" cy="557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370840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33">
            <a:extLst>
              <a:ext uri="{FF2B5EF4-FFF2-40B4-BE49-F238E27FC236}">
                <a16:creationId xmlns:a16="http://schemas.microsoft.com/office/drawing/2014/main" xmlns="" id="{59458994-00A3-019B-5DDE-A2F4BABF006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88975"/>
            <a:ext cx="12192000" cy="548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234774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35">
            <a:extLst>
              <a:ext uri="{FF2B5EF4-FFF2-40B4-BE49-F238E27FC236}">
                <a16:creationId xmlns:a16="http://schemas.microsoft.com/office/drawing/2014/main" xmlns="" id="{35F40A31-5BA5-1926-1AEF-4F31C1CD727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209800"/>
            <a:ext cx="12192000" cy="243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28874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36">
            <a:extLst>
              <a:ext uri="{FF2B5EF4-FFF2-40B4-BE49-F238E27FC236}">
                <a16:creationId xmlns:a16="http://schemas.microsoft.com/office/drawing/2014/main" xmlns="" id="{49F24C9B-BC7C-95F9-3F8F-2F938AC0E68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23900"/>
            <a:ext cx="12192000" cy="540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179822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7CF2D1A-4AC5-4DC9-FBE3-B9F9B935F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63" y="858276"/>
            <a:ext cx="11254255" cy="480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785332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37">
            <a:extLst>
              <a:ext uri="{FF2B5EF4-FFF2-40B4-BE49-F238E27FC236}">
                <a16:creationId xmlns:a16="http://schemas.microsoft.com/office/drawing/2014/main" xmlns="" id="{08565927-3D2A-AA1D-3B36-B0E9D5C3E3F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66750"/>
            <a:ext cx="12192000" cy="552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596632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38">
            <a:extLst>
              <a:ext uri="{FF2B5EF4-FFF2-40B4-BE49-F238E27FC236}">
                <a16:creationId xmlns:a16="http://schemas.microsoft.com/office/drawing/2014/main" xmlns="" id="{F518583E-AF4D-8460-47FD-2EDBE8BF14A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57225"/>
            <a:ext cx="12192000" cy="554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904790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39">
            <a:extLst>
              <a:ext uri="{FF2B5EF4-FFF2-40B4-BE49-F238E27FC236}">
                <a16:creationId xmlns:a16="http://schemas.microsoft.com/office/drawing/2014/main" xmlns="" id="{E17A2D8C-4B2C-E698-AFFE-2E01C285758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54100"/>
            <a:ext cx="12192000" cy="474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593347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40">
            <a:extLst>
              <a:ext uri="{FF2B5EF4-FFF2-40B4-BE49-F238E27FC236}">
                <a16:creationId xmlns:a16="http://schemas.microsoft.com/office/drawing/2014/main" xmlns="" id="{3F54CDD2-F38D-A83A-EE88-5E3046FF129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66750"/>
            <a:ext cx="12192000" cy="552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755514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y 2 chapter2 (2)_page-0041">
            <a:extLst>
              <a:ext uri="{FF2B5EF4-FFF2-40B4-BE49-F238E27FC236}">
                <a16:creationId xmlns:a16="http://schemas.microsoft.com/office/drawing/2014/main" xmlns="" id="{D8189539-415C-8C9F-2029-94A28C6ECB9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74763"/>
            <a:ext cx="12192000" cy="430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937277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1C15452-095D-2A83-CA02-513D9C9FBA80}"/>
              </a:ext>
            </a:extLst>
          </p:cNvPr>
          <p:cNvSpPr txBox="1"/>
          <p:nvPr/>
        </p:nvSpPr>
        <p:spPr>
          <a:xfrm>
            <a:off x="1060775" y="602971"/>
            <a:ext cx="1047473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Question 3:</a:t>
            </a:r>
          </a:p>
          <a:p>
            <a:r>
              <a:rPr lang="en-IN" sz="3200" dirty="0"/>
              <a:t>Select employees whose hire date is before January 1, 2021, and their salary is greater than 50000.</a:t>
            </a:r>
          </a:p>
          <a:p>
            <a:endParaRPr lang="en-IN" sz="3200" dirty="0"/>
          </a:p>
          <a:p>
            <a:endParaRPr lang="en-IN" sz="3200" dirty="0"/>
          </a:p>
          <a:p>
            <a:r>
              <a:rPr lang="en-IN" sz="3200" dirty="0"/>
              <a:t>Question 4:</a:t>
            </a:r>
          </a:p>
          <a:p>
            <a:r>
              <a:rPr lang="en-IN" sz="3200" dirty="0"/>
              <a:t>Select employees whose first name starts with 'J' and are either Financial Analysts or HR Managers.</a:t>
            </a:r>
          </a:p>
          <a:p>
            <a:endParaRPr lang="en-IN" sz="3200" dirty="0"/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xmlns="" val="30140455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97888BD-769A-9E49-E67C-B487B74DA1BB}"/>
              </a:ext>
            </a:extLst>
          </p:cNvPr>
          <p:cNvSpPr txBox="1"/>
          <p:nvPr/>
        </p:nvSpPr>
        <p:spPr>
          <a:xfrm>
            <a:off x="1032640" y="504497"/>
            <a:ext cx="1055913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Solution 3:</a:t>
            </a:r>
          </a:p>
          <a:p>
            <a:r>
              <a:rPr lang="en-IN" sz="2400" dirty="0"/>
              <a:t>Select employees whose hire date is before January 1, 2021, and their salary is greater than 50000.</a:t>
            </a:r>
          </a:p>
          <a:p>
            <a:endParaRPr lang="en-IN" sz="2400" dirty="0"/>
          </a:p>
          <a:p>
            <a:r>
              <a:rPr lang="en-IN" sz="2400" dirty="0"/>
              <a:t>SELECT * FROM Employees WHERE </a:t>
            </a:r>
            <a:r>
              <a:rPr lang="en-IN" sz="2400" dirty="0" err="1"/>
              <a:t>hire_date</a:t>
            </a:r>
            <a:r>
              <a:rPr lang="en-IN" sz="2400" dirty="0"/>
              <a:t> &lt; '2021-01-01' AND salary &gt; 50000.00;</a:t>
            </a:r>
          </a:p>
          <a:p>
            <a:endParaRPr lang="en-IN" sz="2400" dirty="0"/>
          </a:p>
          <a:p>
            <a:r>
              <a:rPr lang="en-IN" sz="2400" dirty="0"/>
              <a:t>Solution 4:</a:t>
            </a:r>
          </a:p>
          <a:p>
            <a:r>
              <a:rPr lang="en-IN" sz="2400" dirty="0"/>
              <a:t>Select employees whose first name starts with 'J' and are either Financial Analysts or HR Managers.</a:t>
            </a:r>
          </a:p>
          <a:p>
            <a:endParaRPr lang="en-IN" sz="2400" dirty="0"/>
          </a:p>
          <a:p>
            <a:r>
              <a:rPr lang="en-IN" sz="2400" dirty="0"/>
              <a:t>SELECT * FROM Employees WHERE </a:t>
            </a:r>
            <a:r>
              <a:rPr lang="en-IN" sz="2400" dirty="0" err="1"/>
              <a:t>first_name</a:t>
            </a:r>
            <a:r>
              <a:rPr lang="en-IN" sz="2400" dirty="0"/>
              <a:t> LIKE 'J%' AND (position = 'Financial Analyst' OR position = 'HR Manager’);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xmlns="" val="325746508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99C0890-60F7-CB58-2A42-19F8A451F85D}"/>
              </a:ext>
            </a:extLst>
          </p:cNvPr>
          <p:cNvSpPr txBox="1"/>
          <p:nvPr/>
        </p:nvSpPr>
        <p:spPr>
          <a:xfrm>
            <a:off x="701566" y="1443841"/>
            <a:ext cx="1051038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Question 5:</a:t>
            </a:r>
          </a:p>
          <a:p>
            <a:r>
              <a:rPr lang="en-IN" sz="3200" dirty="0"/>
              <a:t>Select employees whose salary is within a specific range and sort the result by salary in descending order.</a:t>
            </a:r>
          </a:p>
          <a:p>
            <a:endParaRPr lang="en-IN" sz="3200" dirty="0"/>
          </a:p>
          <a:p>
            <a:endParaRPr lang="en-IN" sz="3200" dirty="0"/>
          </a:p>
          <a:p>
            <a:r>
              <a:rPr lang="en-IN" sz="3200" dirty="0"/>
              <a:t>Question 6: Select employees with more than 5 years of experience or whose salary is greater than 55000, and are not part of the IT department.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xmlns="" val="12193384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AE6FBB0-A04A-8CCF-3699-D3A499D9B05C}"/>
              </a:ext>
            </a:extLst>
          </p:cNvPr>
          <p:cNvSpPr txBox="1"/>
          <p:nvPr/>
        </p:nvSpPr>
        <p:spPr>
          <a:xfrm>
            <a:off x="701566" y="844063"/>
            <a:ext cx="1045411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Solution 5:</a:t>
            </a:r>
          </a:p>
          <a:p>
            <a:r>
              <a:rPr lang="en-IN" sz="2400" dirty="0"/>
              <a:t>Select employees whose salary is within a specific range and sort the result by salary in descending order.</a:t>
            </a:r>
          </a:p>
          <a:p>
            <a:endParaRPr lang="en-IN" sz="2400" dirty="0"/>
          </a:p>
          <a:p>
            <a:r>
              <a:rPr lang="en-IN" sz="2400" dirty="0"/>
              <a:t>SELECT * FROM Employees WHERE salary BETWEEN 40000.00 AND 60000.00 ORDER BY salary DESC; </a:t>
            </a:r>
          </a:p>
          <a:p>
            <a:endParaRPr lang="en-IN" sz="2400" dirty="0"/>
          </a:p>
          <a:p>
            <a:r>
              <a:rPr lang="en-IN" sz="2400" dirty="0"/>
              <a:t>Solution 6: Select employees with more than 5 years of experience or whose salary is greater than 55000, and are not part of the IT department.</a:t>
            </a:r>
          </a:p>
          <a:p>
            <a:endParaRPr lang="en-IN" sz="2400" dirty="0"/>
          </a:p>
          <a:p>
            <a:r>
              <a:rPr lang="en-IN" sz="2400" dirty="0"/>
              <a:t>SELECT * FROM Employees WHERE (</a:t>
            </a:r>
            <a:r>
              <a:rPr lang="en-IN" sz="2400" dirty="0" err="1"/>
              <a:t>years_of_exp</a:t>
            </a:r>
            <a:r>
              <a:rPr lang="en-IN" sz="2400" dirty="0"/>
              <a:t> &gt; 5 OR salary &gt; 55000.00) AND department &lt;&gt; 'IT'; These examples demonstrate some more complex scenarios using</a:t>
            </a:r>
          </a:p>
        </p:txBody>
      </p:sp>
    </p:spTree>
    <p:extLst>
      <p:ext uri="{BB962C8B-B14F-4D97-AF65-F5344CB8AC3E}">
        <p14:creationId xmlns:p14="http://schemas.microsoft.com/office/powerpoint/2010/main" xmlns="" val="35282757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721709-5C79-CE84-9C29-CFFBF08855E6}"/>
              </a:ext>
            </a:extLst>
          </p:cNvPr>
          <p:cNvSpPr txBox="1">
            <a:spLocks/>
          </p:cNvSpPr>
          <p:nvPr/>
        </p:nvSpPr>
        <p:spPr>
          <a:xfrm>
            <a:off x="1524000" y="2571336"/>
            <a:ext cx="9144000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/>
              <a:t>End of Day 2</a:t>
            </a:r>
          </a:p>
          <a:p>
            <a:pPr algn="ctr"/>
            <a:r>
              <a:rPr lang="en-IN" dirty="0"/>
              <a:t>Any Query?</a:t>
            </a:r>
          </a:p>
        </p:txBody>
      </p:sp>
    </p:spTree>
    <p:extLst>
      <p:ext uri="{BB962C8B-B14F-4D97-AF65-F5344CB8AC3E}">
        <p14:creationId xmlns:p14="http://schemas.microsoft.com/office/powerpoint/2010/main" xmlns="" val="3372601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667</Words>
  <Application>Microsoft Office PowerPoint</Application>
  <PresentationFormat>Custom</PresentationFormat>
  <Paragraphs>116</Paragraphs>
  <Slides>70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Office Theme</vt:lpstr>
      <vt:lpstr>SQL Day 2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</dc:title>
  <dc:creator>sachin saxena</dc:creator>
  <cp:lastModifiedBy>hp</cp:lastModifiedBy>
  <cp:revision>28</cp:revision>
  <dcterms:created xsi:type="dcterms:W3CDTF">2023-07-17T10:45:50Z</dcterms:created>
  <dcterms:modified xsi:type="dcterms:W3CDTF">2026-08-04T09:52:04Z</dcterms:modified>
</cp:coreProperties>
</file>