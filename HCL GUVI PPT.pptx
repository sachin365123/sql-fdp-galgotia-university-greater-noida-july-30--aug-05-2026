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  <p:sldMasterId id="2147483673" r:id="rId2"/>
  </p:sldMasterIdLst>
  <p:notesMasterIdLst>
    <p:notesMasterId r:id="rId17"/>
  </p:notesMasterIdLst>
  <p:sldIdLst>
    <p:sldId id="256" r:id="rId3"/>
    <p:sldId id="257" r:id="rId4"/>
    <p:sldId id="262" r:id="rId5"/>
    <p:sldId id="261" r:id="rId6"/>
    <p:sldId id="267" r:id="rId7"/>
    <p:sldId id="268" r:id="rId8"/>
    <p:sldId id="269" r:id="rId9"/>
    <p:sldId id="260" r:id="rId10"/>
    <p:sldId id="264" r:id="rId11"/>
    <p:sldId id="263" r:id="rId12"/>
    <p:sldId id="265" r:id="rId13"/>
    <p:sldId id="266" r:id="rId14"/>
    <p:sldId id="259" r:id="rId15"/>
    <p:sldId id="258" r:id="rId16"/>
  </p:sldIdLst>
  <p:sldSz cx="9144000" cy="5143500" type="screen16x9"/>
  <p:notesSz cx="6858000" cy="9144000"/>
  <p:embeddedFontLst>
    <p:embeddedFont>
      <p:font typeface="Montserrat" charset="0"/>
      <p:regular r:id="rId18"/>
      <p:bold r:id="rId19"/>
      <p:italic r:id="rId20"/>
      <p:boldItalic r:id="rId21"/>
    </p:embeddedFont>
    <p:embeddedFont>
      <p:font typeface="Montserrat Medium" charset="0"/>
      <p:regular r:id="rId22"/>
      <p:bold r:id="rId23"/>
      <p:italic r:id="rId24"/>
      <p:boldItalic r:id="rId25"/>
    </p:embeddedFont>
    <p:embeddedFont>
      <p:font typeface="Montserrat SemiBold" charset="0"/>
      <p:regular r:id="rId26"/>
      <p:bold r:id="rId27"/>
      <p:italic r:id="rId28"/>
      <p:boldItalic r:id="rId29"/>
    </p:embeddedFont>
    <p:embeddedFont>
      <p:font typeface="Calibri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722440-FA5A-415A-A755-6EEE2B43D789}">
  <a:tblStyle styleId="{2D722440-FA5A-415A-A755-6EEE2B43D78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7680" autoAdjust="0"/>
    <p:restoredTop sz="94660"/>
  </p:normalViewPr>
  <p:slideViewPr>
    <p:cSldViewPr snapToGrid="0">
      <p:cViewPr>
        <p:scale>
          <a:sx n="75" d="100"/>
          <a:sy n="75" d="100"/>
        </p:scale>
        <p:origin x="-2030" y="-77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1.xml"/><Relationship Id="rId21" Type="http://schemas.openxmlformats.org/officeDocument/2006/relationships/font" Target="fonts/font4.fntdata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d007a9c1a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3ed007a9c1a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d007a9c1a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77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g3ed007a9c1a_0_230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g3ed007a9c1a_0_230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sz="9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d007a9c1a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77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g3ed007a9c1a_0_230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g3ed007a9c1a_0_230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sz="9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d007a9c1a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77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g3ed007a9c1a_0_230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g3ed007a9c1a_0_230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sz="9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d007a9c1a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77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g3ed007a9c1a_0_230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g3ed007a9c1a_0_230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sz="9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d007a9c1a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77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g3ed007a9c1a_0_230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g3ed007a9c1a_0_230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sz="9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d007a9c1a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77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g3ed007a9c1a_0_230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g3ed007a9c1a_0_230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sz="9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d007a9c1a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77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g3ed007a9c1a_0_230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g3ed007a9c1a_0_230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sz="9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d007a9c1a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77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g3ed007a9c1a_0_230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g3ed007a9c1a_0_230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sz="9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d007a9c1a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77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g3ed007a9c1a_0_230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g3ed007a9c1a_0_230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sz="9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d007a9c1a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77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g3ed007a9c1a_0_230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g3ed007a9c1a_0_230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sz="9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d007a9c1a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77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g3ed007a9c1a_0_230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g3ed007a9c1a_0_230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sz="9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d007a9c1a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77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g3ed007a9c1a_0_230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g3ed007a9c1a_0_230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sz="9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d007a9c1a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77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g3ed007a9c1a_0_250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g3ed007a9c1a_0_250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sz="9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>
            <a:spLocks noGrp="1"/>
          </p:cNvSpPr>
          <p:nvPr>
            <p:ph type="title"/>
          </p:nvPr>
        </p:nvSpPr>
        <p:spPr>
          <a:xfrm>
            <a:off x="436260" y="272415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7558138" y="4943218"/>
            <a:ext cx="1421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ctrTitle"/>
          </p:nvPr>
        </p:nvSpPr>
        <p:spPr>
          <a:xfrm>
            <a:off x="685800" y="1200150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436260" y="272415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ftr" idx="11"/>
          </p:nvPr>
        </p:nvSpPr>
        <p:spPr>
          <a:xfrm>
            <a:off x="7558138" y="4943218"/>
            <a:ext cx="1421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>
            <a:spLocks noGrp="1"/>
          </p:cNvSpPr>
          <p:nvPr>
            <p:ph type="title"/>
          </p:nvPr>
        </p:nvSpPr>
        <p:spPr>
          <a:xfrm>
            <a:off x="722313" y="3305176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ftr" idx="11"/>
          </p:nvPr>
        </p:nvSpPr>
        <p:spPr>
          <a:xfrm>
            <a:off x="7558138" y="4943218"/>
            <a:ext cx="1421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 txBox="1">
            <a:spLocks noGrp="1"/>
          </p:cNvSpPr>
          <p:nvPr>
            <p:ph type="title"/>
          </p:nvPr>
        </p:nvSpPr>
        <p:spPr>
          <a:xfrm>
            <a:off x="436260" y="272415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2"/>
          </p:nvPr>
        </p:nvSpPr>
        <p:spPr>
          <a:xfrm>
            <a:off x="4648200" y="1200151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ftr" idx="11"/>
          </p:nvPr>
        </p:nvSpPr>
        <p:spPr>
          <a:xfrm>
            <a:off x="7558138" y="4943218"/>
            <a:ext cx="1421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>
            <a:spLocks noGrp="1"/>
          </p:cNvSpPr>
          <p:nvPr>
            <p:ph type="title"/>
          </p:nvPr>
        </p:nvSpPr>
        <p:spPr>
          <a:xfrm>
            <a:off x="436260" y="272415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9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3"/>
          </p:nvPr>
        </p:nvSpPr>
        <p:spPr>
          <a:xfrm>
            <a:off x="4645026" y="1151335"/>
            <a:ext cx="40419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4"/>
          </p:nvPr>
        </p:nvSpPr>
        <p:spPr>
          <a:xfrm>
            <a:off x="4645026" y="1631156"/>
            <a:ext cx="4041900" cy="29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ftr" idx="11"/>
          </p:nvPr>
        </p:nvSpPr>
        <p:spPr>
          <a:xfrm>
            <a:off x="7558138" y="4943218"/>
            <a:ext cx="1421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>
            <a:spLocks noGrp="1"/>
          </p:cNvSpPr>
          <p:nvPr>
            <p:ph type="title"/>
          </p:nvPr>
        </p:nvSpPr>
        <p:spPr>
          <a:xfrm>
            <a:off x="436260" y="272415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0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ftr" idx="11"/>
          </p:nvPr>
        </p:nvSpPr>
        <p:spPr>
          <a:xfrm>
            <a:off x="7558138" y="4943218"/>
            <a:ext cx="1421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1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0" name="Google Shape;100;p21"/>
          <p:cNvSpPr txBox="1">
            <a:spLocks noGrp="1"/>
          </p:cNvSpPr>
          <p:nvPr>
            <p:ph type="ftr" idx="11"/>
          </p:nvPr>
        </p:nvSpPr>
        <p:spPr>
          <a:xfrm>
            <a:off x="7558138" y="4943218"/>
            <a:ext cx="1421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 txBox="1">
            <a:spLocks noGrp="1"/>
          </p:cNvSpPr>
          <p:nvPr>
            <p:ph type="title"/>
          </p:nvPr>
        </p:nvSpPr>
        <p:spPr>
          <a:xfrm>
            <a:off x="457201" y="204787"/>
            <a:ext cx="3008400" cy="8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2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5" name="Google Shape;105;p22"/>
          <p:cNvSpPr txBox="1">
            <a:spLocks noGrp="1"/>
          </p:cNvSpPr>
          <p:nvPr>
            <p:ph type="body" idx="2"/>
          </p:nvPr>
        </p:nvSpPr>
        <p:spPr>
          <a:xfrm>
            <a:off x="457201" y="1076326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6" name="Google Shape;106;p22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7" name="Google Shape;107;p22"/>
          <p:cNvSpPr txBox="1">
            <a:spLocks noGrp="1"/>
          </p:cNvSpPr>
          <p:nvPr>
            <p:ph type="ftr" idx="11"/>
          </p:nvPr>
        </p:nvSpPr>
        <p:spPr>
          <a:xfrm>
            <a:off x="7558138" y="4943218"/>
            <a:ext cx="1421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8" name="Google Shape;108;p2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3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3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23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13" name="Google Shape;113;p2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4" name="Google Shape;114;p23"/>
          <p:cNvSpPr txBox="1">
            <a:spLocks noGrp="1"/>
          </p:cNvSpPr>
          <p:nvPr>
            <p:ph type="ftr" idx="11"/>
          </p:nvPr>
        </p:nvSpPr>
        <p:spPr>
          <a:xfrm>
            <a:off x="7558138" y="4943218"/>
            <a:ext cx="1421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>
            <a:spLocks noGrp="1"/>
          </p:cNvSpPr>
          <p:nvPr>
            <p:ph type="title"/>
          </p:nvPr>
        </p:nvSpPr>
        <p:spPr>
          <a:xfrm>
            <a:off x="436260" y="272415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4"/>
          <p:cNvSpPr txBox="1">
            <a:spLocks noGrp="1"/>
          </p:cNvSpPr>
          <p:nvPr>
            <p:ph type="body" idx="1"/>
          </p:nvPr>
        </p:nvSpPr>
        <p:spPr>
          <a:xfrm rot="5400000">
            <a:off x="2874750" y="-1217399"/>
            <a:ext cx="33945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2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0" name="Google Shape;120;p24"/>
          <p:cNvSpPr txBox="1">
            <a:spLocks noGrp="1"/>
          </p:cNvSpPr>
          <p:nvPr>
            <p:ph type="ftr" idx="11"/>
          </p:nvPr>
        </p:nvSpPr>
        <p:spPr>
          <a:xfrm>
            <a:off x="7558138" y="4943218"/>
            <a:ext cx="1421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5"/>
          <p:cNvSpPr txBox="1">
            <a:spLocks noGrp="1"/>
          </p:cNvSpPr>
          <p:nvPr>
            <p:ph type="title"/>
          </p:nvPr>
        </p:nvSpPr>
        <p:spPr>
          <a:xfrm rot="5400000">
            <a:off x="5463750" y="1371629"/>
            <a:ext cx="43887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5"/>
          <p:cNvSpPr txBox="1">
            <a:spLocks noGrp="1"/>
          </p:cNvSpPr>
          <p:nvPr>
            <p:ph type="body" idx="1"/>
          </p:nvPr>
        </p:nvSpPr>
        <p:spPr>
          <a:xfrm rot="5400000">
            <a:off x="1272750" y="-609571"/>
            <a:ext cx="43887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2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6" name="Google Shape;126;p25"/>
          <p:cNvSpPr txBox="1">
            <a:spLocks noGrp="1"/>
          </p:cNvSpPr>
          <p:nvPr>
            <p:ph type="ftr" idx="11"/>
          </p:nvPr>
        </p:nvSpPr>
        <p:spPr>
          <a:xfrm>
            <a:off x="7558138" y="4943218"/>
            <a:ext cx="14217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7" name="Google Shape;127;p2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36260" y="272415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0" y="4933950"/>
            <a:ext cx="9144000" cy="2097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3"/>
          <p:cNvSpPr txBox="1"/>
          <p:nvPr/>
        </p:nvSpPr>
        <p:spPr>
          <a:xfrm>
            <a:off x="0" y="4927410"/>
            <a:ext cx="82296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GUVI – Grab Ur Vernacular Imprint – TRUSTED BY 3 MILLION+ LEARNERS | 1000 Hiring Partners | 100+ Education Institutions</a:t>
            </a:r>
            <a:endParaRPr sz="11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664209" y="186928"/>
            <a:ext cx="231124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7990448" y="4906215"/>
            <a:ext cx="1139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www.guvi.in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5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6.jpe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7.jpe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7"/>
          <p:cNvSpPr txBox="1"/>
          <p:nvPr/>
        </p:nvSpPr>
        <p:spPr>
          <a:xfrm>
            <a:off x="332889" y="978270"/>
            <a:ext cx="5646900" cy="1661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3400"/>
            </a:pPr>
            <a:r>
              <a:rPr lang="en-US" sz="3400" b="1" dirty="0" smtClean="0">
                <a:solidFill>
                  <a:srgbClr val="0F243E"/>
                </a:solidFill>
                <a:latin typeface="Montserrat"/>
                <a:ea typeface="Montserrat"/>
                <a:cs typeface="Montserrat"/>
                <a:sym typeface="Montserrat"/>
              </a:rPr>
              <a:t>FACULTY DEVELOPMENT PROGRAMME on</a:t>
            </a:r>
            <a:endParaRPr sz="10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p27"/>
          <p:cNvSpPr/>
          <p:nvPr/>
        </p:nvSpPr>
        <p:spPr>
          <a:xfrm>
            <a:off x="435850" y="2622250"/>
            <a:ext cx="3418200" cy="5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Clr>
                <a:schemeClr val="dk1"/>
              </a:buClr>
              <a:buSzPts val="1400"/>
            </a:pPr>
            <a:r>
              <a:rPr lang="en-US" b="1" dirty="0" smtClean="0">
                <a:solidFill>
                  <a:srgbClr val="0F243E"/>
                </a:solidFill>
                <a:latin typeface="Montserrat"/>
                <a:ea typeface="Montserrat"/>
                <a:cs typeface="Montserrat"/>
                <a:sym typeface="Montserrat"/>
              </a:rPr>
              <a:t>DATABASE MANAGEMENT SYSTEMS</a:t>
            </a:r>
            <a:endParaRPr sz="1200" b="0" i="0" u="none" strike="noStrike" cap="none">
              <a:solidFill>
                <a:srgbClr val="2B2E3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9DA2C0BC-3C5D-3811-DDC4-3B7955E7F6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005" y="161294"/>
            <a:ext cx="2248186" cy="505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5DAC46EE-48EE-241F-8BF1-CB671B1CF3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005" y="161294"/>
            <a:ext cx="2248186" cy="505600"/>
          </a:xfrm>
          <a:prstGeom prst="rect">
            <a:avLst/>
          </a:prstGeom>
        </p:spPr>
      </p:pic>
      <p:sp>
        <p:nvSpPr>
          <p:cNvPr id="6146" name="AutoShape 2" descr="blob:https://web.whatsapp.com/e83bd0df-5aaf-40be-b314-18d3837bd307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 descr="WhatsApp Image 2026-07-30 at 10.37.22 AM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2374" y="489397"/>
            <a:ext cx="4151826" cy="41518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5DAC46EE-48EE-241F-8BF1-CB671B1CF3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005" y="161294"/>
            <a:ext cx="2248186" cy="505600"/>
          </a:xfrm>
          <a:prstGeom prst="rect">
            <a:avLst/>
          </a:prstGeom>
        </p:spPr>
      </p:pic>
      <p:sp>
        <p:nvSpPr>
          <p:cNvPr id="6146" name="AutoShape 2" descr="blob:https://web.whatsapp.com/e83bd0df-5aaf-40be-b314-18d3837bd307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 descr="WhatsApp Image 2026-07-30 at 10.39.12 AM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6273" y="727334"/>
            <a:ext cx="6651455" cy="41602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/>
          <p:nvPr/>
        </p:nvSpPr>
        <p:spPr>
          <a:xfrm>
            <a:off x="4764914" y="1307071"/>
            <a:ext cx="3245744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lvl="0" algn="ctr">
              <a:buClr>
                <a:srgbClr val="666666"/>
              </a:buClr>
              <a:buSzPts val="1700"/>
            </a:pPr>
            <a:r>
              <a:rPr lang="en-US" sz="1700" dirty="0" smtClean="0">
                <a:solidFill>
                  <a:srgbClr val="66666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5-Day Hands-on Session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5DAC46EE-48EE-241F-8BF1-CB671B1CF3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005" y="161294"/>
            <a:ext cx="2248186" cy="505600"/>
          </a:xfrm>
          <a:prstGeom prst="rect">
            <a:avLst/>
          </a:prstGeom>
        </p:spPr>
      </p:pic>
      <p:sp>
        <p:nvSpPr>
          <p:cNvPr id="6146" name="AutoShape 2" descr="blob:https://web.whatsapp.com/e83bd0df-5aaf-40be-b314-18d3837bd307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 descr="WhatsApp Image 2026-07-30 at 10.23.48 AM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601" y="1093255"/>
            <a:ext cx="4396740" cy="32918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/>
          <p:nvPr/>
        </p:nvSpPr>
        <p:spPr>
          <a:xfrm>
            <a:off x="487680" y="994554"/>
            <a:ext cx="8239759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lvl="0" algn="ctr">
              <a:buClr>
                <a:srgbClr val="666666"/>
              </a:buClr>
              <a:buSzPts val="1700"/>
            </a:pPr>
            <a:r>
              <a:rPr lang="en-US" sz="1700" dirty="0" smtClean="0">
                <a:solidFill>
                  <a:srgbClr val="66666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5-Day Hands-on </a:t>
            </a:r>
            <a:r>
              <a:rPr lang="en-US" sz="1700" dirty="0" smtClean="0">
                <a:solidFill>
                  <a:srgbClr val="66666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Session will help in other certifications as well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5DAC46EE-48EE-241F-8BF1-CB671B1CF3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005" y="161294"/>
            <a:ext cx="2248186" cy="505600"/>
          </a:xfrm>
          <a:prstGeom prst="rect">
            <a:avLst/>
          </a:prstGeom>
        </p:spPr>
      </p:pic>
      <p:sp>
        <p:nvSpPr>
          <p:cNvPr id="6146" name="AutoShape 2" descr="blob:https://web.whatsapp.com/e83bd0df-5aaf-40be-b314-18d3837bd307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0" name="Picture 2" descr="Top DP-300: Microsoft Azure Database Administrator Associate Courses Online  - Updated [August 2026]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46238" y="1656595"/>
            <a:ext cx="2728730" cy="2728730"/>
          </a:xfrm>
          <a:prstGeom prst="rect">
            <a:avLst/>
          </a:prstGeom>
          <a:noFill/>
        </p:spPr>
      </p:pic>
      <p:sp>
        <p:nvSpPr>
          <p:cNvPr id="2052" name="AutoShape 4" descr="Pass Microsoft SQL AI Developer Associate DP-80... • CBTPROX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https://cms.cbtproxy.com/api/media/file/Microsoft%20AZURE%20SQL%20AI%20Developer%20Associate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6" name="AutoShape 8" descr="https://media.whizlabs.com/website/245006594_1778744163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8" name="Picture 10" descr="https://img-c.udemycdn.com/course/480x270/7136769_7628.jpg?w=3840&amp;q=7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471038" y="1419980"/>
            <a:ext cx="5672962" cy="319104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5DAC46EE-48EE-241F-8BF1-CB671B1CF3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005" y="161294"/>
            <a:ext cx="2248186" cy="505600"/>
          </a:xfrm>
          <a:prstGeom prst="rect">
            <a:avLst/>
          </a:prstGeom>
        </p:spPr>
      </p:pic>
      <p:sp>
        <p:nvSpPr>
          <p:cNvPr id="6146" name="AutoShape 2" descr="blob:https://web.whatsapp.com/e83bd0df-5aaf-40be-b314-18d3837bd307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Pass Microsoft SQL AI Developer Associate DP-80... • CBTPROX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https://cms.cbtproxy.com/api/media/file/Microsoft%20AZURE%20SQL%20AI%20Developer%20Associate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6" name="AutoShape 8" descr="https://media.whizlabs.com/website/245006594_1778744163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4274" name="Picture 2" descr="https://encrypted-tbn0.gstatic.com/images?q=tbn:ANd9GcQOkM-xKc_Q1MA5RpMLFD3zqFyqj4neHiombIJ_EALBrA&amp;s=10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244500" y="1475776"/>
            <a:ext cx="2857500" cy="2857500"/>
          </a:xfrm>
          <a:prstGeom prst="rect">
            <a:avLst/>
          </a:prstGeom>
          <a:noFill/>
        </p:spPr>
      </p:pic>
      <p:pic>
        <p:nvPicPr>
          <p:cNvPr id="54276" name="Picture 4" descr="https://www.sqlservercentral.com/wp-content/uploads/2021/03/https-tzamtzis-gr-tzamtziswp-wp-content-uploads-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094234" y="1355652"/>
            <a:ext cx="2986994" cy="2986994"/>
          </a:xfrm>
          <a:prstGeom prst="rect">
            <a:avLst/>
          </a:prstGeom>
          <a:noFill/>
        </p:spPr>
      </p:pic>
      <p:sp>
        <p:nvSpPr>
          <p:cNvPr id="12" name="Google Shape;152;p28"/>
          <p:cNvSpPr/>
          <p:nvPr/>
        </p:nvSpPr>
        <p:spPr>
          <a:xfrm>
            <a:off x="487680" y="994554"/>
            <a:ext cx="8239759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lvl="0" algn="ctr">
              <a:buClr>
                <a:srgbClr val="666666"/>
              </a:buClr>
              <a:buSzPts val="1700"/>
            </a:pPr>
            <a:r>
              <a:rPr lang="en-US" sz="1700" dirty="0" smtClean="0">
                <a:solidFill>
                  <a:srgbClr val="66666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5-Day Hands-on </a:t>
            </a:r>
            <a:r>
              <a:rPr lang="en-US" sz="1700" dirty="0" smtClean="0">
                <a:solidFill>
                  <a:srgbClr val="66666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Session will help in other certifications as well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5DAC46EE-48EE-241F-8BF1-CB671B1CF3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005" y="161294"/>
            <a:ext cx="2248186" cy="505600"/>
          </a:xfrm>
          <a:prstGeom prst="rect">
            <a:avLst/>
          </a:prstGeom>
        </p:spPr>
      </p:pic>
      <p:sp>
        <p:nvSpPr>
          <p:cNvPr id="6146" name="AutoShape 2" descr="blob:https://web.whatsapp.com/e83bd0df-5aaf-40be-b314-18d3837bd307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Pass Microsoft SQL AI Developer Associate DP-80... • CBTPROX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https://cms.cbtproxy.com/api/media/file/Microsoft%20AZURE%20SQL%20AI%20Developer%20Associate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6" name="AutoShape 8" descr="https://media.whizlabs.com/website/245006594_1778744163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6322" name="Picture 2" descr="https://www.databricks.com/sites/default/files/2025-10/associate-badge-de.png?v=178060242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402080" y="1431972"/>
            <a:ext cx="2011680" cy="2795176"/>
          </a:xfrm>
          <a:prstGeom prst="rect">
            <a:avLst/>
          </a:prstGeom>
          <a:noFill/>
        </p:spPr>
      </p:pic>
      <p:pic>
        <p:nvPicPr>
          <p:cNvPr id="56324" name="Picture 4" descr="A New Badge…But Is It Useful? Databricks SQL Analyst Accreditation"/>
          <p:cNvPicPr>
            <a:picLocks noChangeAspect="1" noChangeArrowheads="1"/>
          </p:cNvPicPr>
          <p:nvPr/>
        </p:nvPicPr>
        <p:blipFill>
          <a:blip r:embed="rId6"/>
          <a:srcRect l="20980" r="21133"/>
          <a:stretch>
            <a:fillRect/>
          </a:stretch>
        </p:blipFill>
        <p:spPr bwMode="auto">
          <a:xfrm>
            <a:off x="5212080" y="1500077"/>
            <a:ext cx="2550160" cy="2711036"/>
          </a:xfrm>
          <a:prstGeom prst="rect">
            <a:avLst/>
          </a:prstGeom>
          <a:noFill/>
        </p:spPr>
      </p:pic>
      <p:sp>
        <p:nvSpPr>
          <p:cNvPr id="12" name="Google Shape;152;p28"/>
          <p:cNvSpPr/>
          <p:nvPr/>
        </p:nvSpPr>
        <p:spPr>
          <a:xfrm>
            <a:off x="487680" y="994554"/>
            <a:ext cx="8239759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lvl="0" algn="ctr">
              <a:buClr>
                <a:srgbClr val="666666"/>
              </a:buClr>
              <a:buSzPts val="1700"/>
            </a:pPr>
            <a:r>
              <a:rPr lang="en-US" sz="1700" dirty="0" smtClean="0">
                <a:solidFill>
                  <a:srgbClr val="66666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5-Day Hands-on </a:t>
            </a:r>
            <a:r>
              <a:rPr lang="en-US" sz="1700" dirty="0" smtClean="0">
                <a:solidFill>
                  <a:srgbClr val="66666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Session will help in other certifications as well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5DAC46EE-48EE-241F-8BF1-CB671B1CF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05" y="161294"/>
            <a:ext cx="2248186" cy="505600"/>
          </a:xfrm>
          <a:prstGeom prst="rect">
            <a:avLst/>
          </a:prstGeom>
        </p:spPr>
      </p:pic>
      <p:sp>
        <p:nvSpPr>
          <p:cNvPr id="6146" name="AutoShape 2" descr="blob:https://web.whatsapp.com/e83bd0df-5aaf-40be-b314-18d3837bd307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2" descr="https://media.licdn.com/dms/image/v2/D5612AQGPByKG2nP6kw/article-cover_image-shrink_720_1280/article-cover_image-shrink_720_1280/0/1720100443253?e=2147483647&amp;v=beta&amp;t=su4k-AGNt_DStZ0OvhuQzDD2NZWJGy6EXcvQ1_wAbxI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72948" y="872277"/>
            <a:ext cx="6760450" cy="380275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5DAC46EE-48EE-241F-8BF1-CB671B1CF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05" y="161294"/>
            <a:ext cx="2248186" cy="505600"/>
          </a:xfrm>
          <a:prstGeom prst="rect">
            <a:avLst/>
          </a:prstGeom>
        </p:spPr>
      </p:pic>
      <p:sp>
        <p:nvSpPr>
          <p:cNvPr id="6146" name="AutoShape 2" descr="blob:https://web.whatsapp.com/e83bd0df-5aaf-40be-b314-18d3837bd307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6084" name="Picture 4" descr="Dimensional Modeling - Part 1: Basic Fact Table Techniques | m a i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1049" y="891540"/>
            <a:ext cx="5809792" cy="296418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5DAC46EE-48EE-241F-8BF1-CB671B1CF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05" y="161294"/>
            <a:ext cx="2248186" cy="505600"/>
          </a:xfrm>
          <a:prstGeom prst="rect">
            <a:avLst/>
          </a:prstGeom>
        </p:spPr>
      </p:pic>
      <p:sp>
        <p:nvSpPr>
          <p:cNvPr id="6146" name="AutoShape 2" descr="blob:https://web.whatsapp.com/e83bd0df-5aaf-40be-b314-18d3837bd307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8130" name="Picture 2" descr="https://encrypted-tbn0.gstatic.com/images?q=tbn:ANd9GcQCuQzvzMswykxgneWPN3SNWuVND6XiOb3fw6lSYY0kX9qwQ0Xo3eC27vI&amp;s=10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00009" y="856444"/>
            <a:ext cx="3533837" cy="376707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5DAC46EE-48EE-241F-8BF1-CB671B1CF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05" y="161294"/>
            <a:ext cx="2248186" cy="505600"/>
          </a:xfrm>
          <a:prstGeom prst="rect">
            <a:avLst/>
          </a:prstGeom>
        </p:spPr>
      </p:pic>
      <p:sp>
        <p:nvSpPr>
          <p:cNvPr id="6146" name="AutoShape 2" descr="blob:https://web.whatsapp.com/e83bd0df-5aaf-40be-b314-18d3837bd307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4034" name="Picture 2" descr="https://media.licdn.com/dms/image/v2/D5622AQEIWMmo3M6txA/feedshare-shrink_800/B56ZeGRcRyGQAg-/0/1750304410778?e=2147483647&amp;v=beta&amp;t=SjdTOGqZMFyzJnZARHdUgvUgvQW6XiFAublD5gVv7Is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6104" y="925975"/>
            <a:ext cx="4461641" cy="350796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5DAC46EE-48EE-241F-8BF1-CB671B1CF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05" y="161294"/>
            <a:ext cx="2248186" cy="505600"/>
          </a:xfrm>
          <a:prstGeom prst="rect">
            <a:avLst/>
          </a:prstGeom>
        </p:spPr>
      </p:pic>
      <p:sp>
        <p:nvSpPr>
          <p:cNvPr id="6146" name="AutoShape 2" descr="blob:https://web.whatsapp.com/e83bd0df-5aaf-40be-b314-18d3837bd307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2" descr="https://media.licdn.com/dms/image/v2/D5612AQGPByKG2nP6kw/article-cover_image-shrink_720_1280/article-cover_image-shrink_720_1280/0/1720100443253?e=2147483647&amp;v=beta&amp;t=su4k-AGNt_DStZ0OvhuQzDD2NZWJGy6EXcvQ1_wAbxI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72948" y="872277"/>
            <a:ext cx="6760450" cy="380275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8" descr="preencoded.png"/>
          <p:cNvPicPr preferRelativeResize="0"/>
          <p:nvPr/>
        </p:nvPicPr>
        <p:blipFill rotWithShape="1">
          <a:blip r:embed="rId4">
            <a:alphaModFix/>
          </a:blip>
          <a:srcRect t="11754"/>
          <a:stretch/>
        </p:blipFill>
        <p:spPr>
          <a:xfrm>
            <a:off x="266700" y="695325"/>
            <a:ext cx="8472523" cy="402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8"/>
          <p:cNvSpPr/>
          <p:nvPr/>
        </p:nvSpPr>
        <p:spPr>
          <a:xfrm>
            <a:off x="1770538" y="1305738"/>
            <a:ext cx="939000" cy="1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None/>
            </a:pPr>
            <a:r>
              <a:rPr lang="en" sz="1200" b="0" i="0" u="none" strike="noStrike" cap="none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HCLTech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8"/>
          <p:cNvSpPr/>
          <p:nvPr/>
        </p:nvSpPr>
        <p:spPr>
          <a:xfrm>
            <a:off x="2972288" y="1305738"/>
            <a:ext cx="1415100" cy="1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None/>
            </a:pPr>
            <a:r>
              <a:rPr lang="en" sz="1200" b="0" i="0" u="none" strike="noStrike" cap="non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HCL Infosystems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8"/>
          <p:cNvSpPr/>
          <p:nvPr/>
        </p:nvSpPr>
        <p:spPr>
          <a:xfrm>
            <a:off x="4733217" y="1305738"/>
            <a:ext cx="1415100" cy="1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None/>
            </a:pPr>
            <a:r>
              <a:rPr lang="en" sz="1200" b="0" i="0" u="none" strike="noStrike" cap="non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HCL Healthcare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8"/>
          <p:cNvSpPr/>
          <p:nvPr/>
        </p:nvSpPr>
        <p:spPr>
          <a:xfrm>
            <a:off x="6472800" y="1305738"/>
            <a:ext cx="1097400" cy="1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None/>
            </a:pPr>
            <a:r>
              <a:rPr lang="en" sz="1200" b="0" i="0" u="none" strike="noStrike" cap="non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GUVI | HCL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8"/>
          <p:cNvSpPr/>
          <p:nvPr/>
        </p:nvSpPr>
        <p:spPr>
          <a:xfrm>
            <a:off x="1349797" y="1714500"/>
            <a:ext cx="14727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93939"/>
              </a:buClr>
              <a:buSzPts val="700"/>
              <a:buFont typeface="Montserrat"/>
              <a:buNone/>
            </a:pPr>
            <a:r>
              <a:rPr lang="en" sz="700" b="0" i="0" u="none" strike="noStrike" cap="none">
                <a:solidFill>
                  <a:srgbClr val="393939"/>
                </a:solidFill>
                <a:latin typeface="Montserrat"/>
                <a:ea typeface="Montserrat"/>
                <a:cs typeface="Montserrat"/>
                <a:sym typeface="Montserrat"/>
              </a:rPr>
              <a:t>A Global Technology 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93939"/>
              </a:buClr>
              <a:buSzPts val="700"/>
              <a:buFont typeface="Montserrat"/>
              <a:buNone/>
            </a:pPr>
            <a:r>
              <a:rPr lang="en" sz="700" b="0" i="0" u="none" strike="noStrike" cap="none">
                <a:solidFill>
                  <a:srgbClr val="393939"/>
                </a:solidFill>
                <a:latin typeface="Montserrat"/>
                <a:ea typeface="Montserrat"/>
                <a:cs typeface="Montserrat"/>
                <a:sym typeface="Montserrat"/>
              </a:rPr>
              <a:t>Company Delivering Industry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93939"/>
              </a:buClr>
              <a:buSzPts val="700"/>
              <a:buFont typeface="Montserrat"/>
              <a:buNone/>
            </a:pPr>
            <a:r>
              <a:rPr lang="en" sz="700" b="0" i="0" u="none" strike="noStrike" cap="none">
                <a:solidFill>
                  <a:srgbClr val="393939"/>
                </a:solidFill>
                <a:latin typeface="Montserrat"/>
                <a:ea typeface="Montserrat"/>
                <a:cs typeface="Montserrat"/>
                <a:sym typeface="Montserrat"/>
              </a:rPr>
              <a:t>Leading Capabilities Centered 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93939"/>
              </a:buClr>
              <a:buSzPts val="700"/>
              <a:buFont typeface="Montserrat"/>
              <a:buNone/>
            </a:pPr>
            <a:r>
              <a:rPr lang="en" sz="700" b="0" i="0" u="none" strike="noStrike" cap="none">
                <a:solidFill>
                  <a:srgbClr val="393939"/>
                </a:solidFill>
                <a:latin typeface="Montserrat"/>
                <a:ea typeface="Montserrat"/>
                <a:cs typeface="Montserrat"/>
                <a:sym typeface="Montserrat"/>
              </a:rPr>
              <a:t>Around Digital, Engineering, 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93939"/>
              </a:buClr>
              <a:buSzPts val="700"/>
              <a:buFont typeface="Montserrat"/>
              <a:buNone/>
            </a:pPr>
            <a:r>
              <a:rPr lang="en" sz="700" b="0" i="0" u="none" strike="noStrike" cap="none">
                <a:solidFill>
                  <a:srgbClr val="393939"/>
                </a:solidFill>
                <a:latin typeface="Montserrat"/>
                <a:ea typeface="Montserrat"/>
                <a:cs typeface="Montserrat"/>
                <a:sym typeface="Montserrat"/>
              </a:rPr>
              <a:t>Cloud, AI And Software, 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93939"/>
              </a:buClr>
              <a:buSzPts val="700"/>
              <a:buFont typeface="Montserrat"/>
              <a:buNone/>
            </a:pPr>
            <a:r>
              <a:rPr lang="en" sz="700" b="0" i="0" u="none" strike="noStrike" cap="none">
                <a:solidFill>
                  <a:srgbClr val="393939"/>
                </a:solidFill>
                <a:latin typeface="Montserrat"/>
                <a:ea typeface="Montserrat"/>
                <a:cs typeface="Montserrat"/>
                <a:sym typeface="Montserrat"/>
              </a:rPr>
              <a:t>Powered By A Broad 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93939"/>
              </a:buClr>
              <a:buSzPts val="700"/>
              <a:buFont typeface="Montserrat"/>
              <a:buNone/>
            </a:pPr>
            <a:r>
              <a:rPr lang="en" sz="700" b="0" i="0" u="none" strike="noStrike" cap="none">
                <a:solidFill>
                  <a:srgbClr val="393939"/>
                </a:solidFill>
                <a:latin typeface="Montserrat"/>
                <a:ea typeface="Montserrat"/>
                <a:cs typeface="Montserrat"/>
                <a:sym typeface="Montserrat"/>
              </a:rPr>
              <a:t>Portfolio Of Technology 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93939"/>
              </a:buClr>
              <a:buSzPts val="700"/>
              <a:buFont typeface="Montserrat"/>
              <a:buNone/>
            </a:pPr>
            <a:r>
              <a:rPr lang="en" sz="700" b="0" i="0" u="none" strike="noStrike" cap="none">
                <a:solidFill>
                  <a:srgbClr val="393939"/>
                </a:solidFill>
                <a:latin typeface="Montserrat"/>
                <a:ea typeface="Montserrat"/>
                <a:cs typeface="Montserrat"/>
                <a:sym typeface="Montserrat"/>
              </a:rPr>
              <a:t>Services And Products.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8"/>
          <p:cNvSpPr/>
          <p:nvPr/>
        </p:nvSpPr>
        <p:spPr>
          <a:xfrm>
            <a:off x="2943523" y="1714519"/>
            <a:ext cx="1472700" cy="6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93939"/>
              </a:buClr>
              <a:buSzPts val="700"/>
              <a:buFont typeface="Montserrat"/>
              <a:buNone/>
            </a:pPr>
            <a:r>
              <a:rPr lang="en" sz="700" b="0" i="0" u="none" strike="noStrike" cap="none">
                <a:solidFill>
                  <a:srgbClr val="393939"/>
                </a:solidFill>
                <a:latin typeface="Montserrat"/>
                <a:ea typeface="Montserrat"/>
                <a:cs typeface="Montserrat"/>
                <a:sym typeface="Montserrat"/>
              </a:rPr>
              <a:t>A System Integration And 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93939"/>
              </a:buClr>
              <a:buSzPts val="700"/>
              <a:buFont typeface="Montserrat"/>
              <a:buNone/>
            </a:pPr>
            <a:r>
              <a:rPr lang="en" sz="700" b="0" i="0" u="none" strike="noStrike" cap="none">
                <a:solidFill>
                  <a:srgbClr val="393939"/>
                </a:solidFill>
                <a:latin typeface="Montserrat"/>
                <a:ea typeface="Montserrat"/>
                <a:cs typeface="Montserrat"/>
                <a:sym typeface="Montserrat"/>
              </a:rPr>
              <a:t>Distribution Company. It 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93939"/>
              </a:buClr>
              <a:buSzPts val="700"/>
              <a:buFont typeface="Montserrat"/>
              <a:buNone/>
            </a:pPr>
            <a:r>
              <a:rPr lang="en" sz="700" b="0" i="0" u="none" strike="noStrike" cap="none">
                <a:solidFill>
                  <a:srgbClr val="393939"/>
                </a:solidFill>
                <a:latin typeface="Montserrat"/>
                <a:ea typeface="Montserrat"/>
                <a:cs typeface="Montserrat"/>
                <a:sym typeface="Montserrat"/>
              </a:rPr>
              <a:t>Provides Distribution Of 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93939"/>
              </a:buClr>
              <a:buSzPts val="700"/>
              <a:buFont typeface="Montserrat"/>
              <a:buNone/>
            </a:pPr>
            <a:r>
              <a:rPr lang="en" sz="700" b="0" i="0" u="none" strike="noStrike" cap="none">
                <a:solidFill>
                  <a:srgbClr val="393939"/>
                </a:solidFill>
                <a:latin typeface="Montserrat"/>
                <a:ea typeface="Montserrat"/>
                <a:cs typeface="Montserrat"/>
                <a:sym typeface="Montserrat"/>
              </a:rPr>
              <a:t>Technology, Mobility And 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93939"/>
              </a:buClr>
              <a:buSzPts val="700"/>
              <a:buFont typeface="Montserrat"/>
              <a:buNone/>
            </a:pPr>
            <a:r>
              <a:rPr lang="en" sz="700" b="0" i="0" u="none" strike="noStrike" cap="none">
                <a:solidFill>
                  <a:srgbClr val="393939"/>
                </a:solidFill>
                <a:latin typeface="Montserrat"/>
                <a:ea typeface="Montserrat"/>
                <a:cs typeface="Montserrat"/>
                <a:sym typeface="Montserrat"/>
              </a:rPr>
              <a:t>Consumer Products.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8"/>
          <p:cNvSpPr/>
          <p:nvPr/>
        </p:nvSpPr>
        <p:spPr>
          <a:xfrm>
            <a:off x="4601022" y="1714519"/>
            <a:ext cx="15492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93939"/>
              </a:buClr>
              <a:buSzPts val="700"/>
              <a:buFont typeface="Montserrat"/>
              <a:buNone/>
            </a:pPr>
            <a:r>
              <a:rPr lang="en" sz="700" b="0" i="0" u="none" strike="noStrike" cap="none">
                <a:solidFill>
                  <a:srgbClr val="393939"/>
                </a:solidFill>
                <a:latin typeface="Montserrat"/>
                <a:ea typeface="Montserrat"/>
                <a:cs typeface="Montserrat"/>
                <a:sym typeface="Montserrat"/>
              </a:rPr>
              <a:t>One Of India’S Largest 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93939"/>
              </a:buClr>
              <a:buSzPts val="700"/>
              <a:buFont typeface="Montserrat"/>
              <a:buNone/>
            </a:pPr>
            <a:r>
              <a:rPr lang="en" sz="700" b="0" i="0" u="none" strike="noStrike" cap="none">
                <a:solidFill>
                  <a:srgbClr val="393939"/>
                </a:solidFill>
                <a:latin typeface="Montserrat"/>
                <a:ea typeface="Montserrat"/>
                <a:cs typeface="Montserrat"/>
                <a:sym typeface="Montserrat"/>
              </a:rPr>
              <a:t>Corporate Health Solutions 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93939"/>
              </a:buClr>
              <a:buSzPts val="700"/>
              <a:buFont typeface="Montserrat"/>
              <a:buNone/>
            </a:pPr>
            <a:r>
              <a:rPr lang="en" sz="700" b="0" i="0" u="none" strike="noStrike" cap="none">
                <a:solidFill>
                  <a:srgbClr val="393939"/>
                </a:solidFill>
                <a:latin typeface="Montserrat"/>
                <a:ea typeface="Montserrat"/>
                <a:cs typeface="Montserrat"/>
                <a:sym typeface="Montserrat"/>
              </a:rPr>
              <a:t>Firms, Providing End-To-End 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93939"/>
              </a:buClr>
              <a:buSzPts val="700"/>
              <a:buFont typeface="Montserrat"/>
              <a:buNone/>
            </a:pPr>
            <a:r>
              <a:rPr lang="en" sz="700" b="0" i="0" u="none" strike="noStrike" cap="none">
                <a:solidFill>
                  <a:srgbClr val="393939"/>
                </a:solidFill>
                <a:latin typeface="Montserrat"/>
                <a:ea typeface="Montserrat"/>
                <a:cs typeface="Montserrat"/>
                <a:sym typeface="Montserrat"/>
              </a:rPr>
              <a:t>Healthcare Solutions With A 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93939"/>
              </a:buClr>
              <a:buSzPts val="700"/>
              <a:buFont typeface="Montserrat"/>
              <a:buNone/>
            </a:pPr>
            <a:r>
              <a:rPr lang="en" sz="700" b="0" i="0" u="none" strike="noStrike" cap="none">
                <a:solidFill>
                  <a:srgbClr val="393939"/>
                </a:solidFill>
                <a:latin typeface="Montserrat"/>
                <a:ea typeface="Montserrat"/>
                <a:cs typeface="Montserrat"/>
                <a:sym typeface="Montserrat"/>
              </a:rPr>
              <a:t>Vision To Make Corporate 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93939"/>
              </a:buClr>
              <a:buSzPts val="700"/>
              <a:buFont typeface="Montserrat"/>
              <a:buNone/>
            </a:pPr>
            <a:r>
              <a:rPr lang="en" sz="700" b="0" i="0" u="none" strike="noStrike" cap="none">
                <a:solidFill>
                  <a:srgbClr val="393939"/>
                </a:solidFill>
                <a:latin typeface="Montserrat"/>
                <a:ea typeface="Montserrat"/>
                <a:cs typeface="Montserrat"/>
                <a:sym typeface="Montserrat"/>
              </a:rPr>
              <a:t>India A Healthier Place.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8"/>
          <p:cNvSpPr/>
          <p:nvPr/>
        </p:nvSpPr>
        <p:spPr>
          <a:xfrm>
            <a:off x="6341418" y="1714500"/>
            <a:ext cx="1434300" cy="9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93939"/>
              </a:buClr>
              <a:buSzPts val="700"/>
              <a:buFont typeface="Montserrat"/>
              <a:buNone/>
            </a:pPr>
            <a:r>
              <a:rPr lang="en" sz="700" b="0" i="0" u="none" strike="noStrike" cap="none">
                <a:solidFill>
                  <a:srgbClr val="393939"/>
                </a:solidFill>
                <a:latin typeface="Montserrat"/>
                <a:ea typeface="Montserrat"/>
                <a:cs typeface="Montserrat"/>
                <a:sym typeface="Montserrat"/>
              </a:rPr>
              <a:t>India’S Leading Vernacular 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93939"/>
              </a:buClr>
              <a:buSzPts val="700"/>
              <a:buFont typeface="Montserrat"/>
              <a:buNone/>
            </a:pPr>
            <a:r>
              <a:rPr lang="en" sz="700" b="0" i="0" u="none" strike="noStrike" cap="none">
                <a:solidFill>
                  <a:srgbClr val="393939"/>
                </a:solidFill>
                <a:latin typeface="Montserrat"/>
                <a:ea typeface="Montserrat"/>
                <a:cs typeface="Montserrat"/>
                <a:sym typeface="Montserrat"/>
              </a:rPr>
              <a:t>Skilling Company Dedicated 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93939"/>
              </a:buClr>
              <a:buSzPts val="700"/>
              <a:buFont typeface="Montserrat"/>
              <a:buNone/>
            </a:pPr>
            <a:r>
              <a:rPr lang="en" sz="700" b="0" i="0" u="none" strike="noStrike" cap="none">
                <a:solidFill>
                  <a:srgbClr val="393939"/>
                </a:solidFill>
                <a:latin typeface="Montserrat"/>
                <a:ea typeface="Montserrat"/>
                <a:cs typeface="Montserrat"/>
                <a:sym typeface="Montserrat"/>
              </a:rPr>
              <a:t>To Providing Effective And 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93939"/>
              </a:buClr>
              <a:buSzPts val="700"/>
              <a:buFont typeface="Montserrat"/>
              <a:buNone/>
            </a:pPr>
            <a:r>
              <a:rPr lang="en" sz="700" b="0" i="0" u="none" strike="noStrike" cap="none">
                <a:solidFill>
                  <a:srgbClr val="393939"/>
                </a:solidFill>
                <a:latin typeface="Montserrat"/>
                <a:ea typeface="Montserrat"/>
                <a:cs typeface="Montserrat"/>
                <a:sym typeface="Montserrat"/>
              </a:rPr>
              <a:t>High-Quality Learning And 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93939"/>
              </a:buClr>
              <a:buSzPts val="700"/>
              <a:buFont typeface="Montserrat"/>
              <a:buNone/>
            </a:pPr>
            <a:r>
              <a:rPr lang="en" sz="700" b="0" i="0" u="none" strike="noStrike" cap="none">
                <a:solidFill>
                  <a:srgbClr val="393939"/>
                </a:solidFill>
                <a:latin typeface="Montserrat"/>
                <a:ea typeface="Montserrat"/>
                <a:cs typeface="Montserrat"/>
                <a:sym typeface="Montserrat"/>
              </a:rPr>
              <a:t>Skilling Programs. Trusted By 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93939"/>
              </a:buClr>
              <a:buSzPts val="700"/>
              <a:buFont typeface="Montserrat"/>
              <a:buNone/>
            </a:pPr>
            <a:r>
              <a:rPr lang="en" sz="700" b="0" i="0" u="none" strike="noStrike" cap="none">
                <a:solidFill>
                  <a:srgbClr val="393939"/>
                </a:solidFill>
                <a:latin typeface="Montserrat"/>
                <a:ea typeface="Montserrat"/>
                <a:cs typeface="Montserrat"/>
                <a:sym typeface="Montserrat"/>
              </a:rPr>
              <a:t>Over 3 Million Learners And 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93939"/>
              </a:buClr>
              <a:buSzPts val="700"/>
              <a:buFont typeface="Montserrat"/>
              <a:buNone/>
            </a:pPr>
            <a:r>
              <a:rPr lang="en" sz="700" b="0" i="0" u="none" strike="noStrike" cap="none">
                <a:solidFill>
                  <a:srgbClr val="393939"/>
                </a:solidFill>
                <a:latin typeface="Montserrat"/>
                <a:ea typeface="Montserrat"/>
                <a:cs typeface="Montserrat"/>
                <a:sym typeface="Montserrat"/>
              </a:rPr>
              <a:t>2000+ Corporate Partners.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8"/>
          <p:cNvSpPr/>
          <p:nvPr/>
        </p:nvSpPr>
        <p:spPr>
          <a:xfrm>
            <a:off x="2320410" y="3193554"/>
            <a:ext cx="1611300" cy="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Medium"/>
              <a:buNone/>
            </a:pPr>
            <a:r>
              <a:rPr lang="en" sz="1000" b="0" i="0" u="none" strike="noStrike" cap="non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HCL Foundation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8"/>
          <p:cNvSpPr/>
          <p:nvPr/>
        </p:nvSpPr>
        <p:spPr>
          <a:xfrm>
            <a:off x="5262221" y="3183632"/>
            <a:ext cx="1964100" cy="1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Medium"/>
              <a:buNone/>
            </a:pPr>
            <a:r>
              <a:rPr lang="en" sz="1000" b="0" i="0" u="none" strike="noStrike" cap="non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Shiv Nadar Foundation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8"/>
          <p:cNvSpPr/>
          <p:nvPr/>
        </p:nvSpPr>
        <p:spPr>
          <a:xfrm>
            <a:off x="3219450" y="695325"/>
            <a:ext cx="25593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700"/>
              <a:buFont typeface="Montserrat SemiBold"/>
              <a:buNone/>
            </a:pPr>
            <a:r>
              <a:rPr lang="en" sz="1700" b="0" i="0" u="none" strike="noStrike" cap="none">
                <a:solidFill>
                  <a:srgbClr val="66666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HCL Group Snapshot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5DAC46EE-48EE-241F-8BF1-CB671B1CF3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005" y="161294"/>
            <a:ext cx="2248186" cy="505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9" descr="preencoded.png"/>
          <p:cNvPicPr preferRelativeResize="0"/>
          <p:nvPr/>
        </p:nvPicPr>
        <p:blipFill rotWithShape="1">
          <a:blip r:embed="rId4">
            <a:alphaModFix/>
          </a:blip>
          <a:srcRect t="13202"/>
          <a:stretch/>
        </p:blipFill>
        <p:spPr>
          <a:xfrm>
            <a:off x="0" y="678950"/>
            <a:ext cx="9144000" cy="4464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9"/>
          <p:cNvSpPr/>
          <p:nvPr/>
        </p:nvSpPr>
        <p:spPr>
          <a:xfrm>
            <a:off x="1400324" y="3929063"/>
            <a:ext cx="1081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Skilling using English &amp;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vernacular languages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9"/>
          <p:cNvSpPr/>
          <p:nvPr/>
        </p:nvSpPr>
        <p:spPr>
          <a:xfrm>
            <a:off x="2971800" y="3929063"/>
            <a:ext cx="1314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Incubated by IIT Madras and IIM Ahmedabad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9"/>
          <p:cNvSpPr/>
          <p:nvPr/>
        </p:nvSpPr>
        <p:spPr>
          <a:xfrm>
            <a:off x="4933429" y="3929063"/>
            <a:ext cx="1190700" cy="1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 HCL Group Company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9"/>
          <p:cNvSpPr/>
          <p:nvPr/>
        </p:nvSpPr>
        <p:spPr>
          <a:xfrm>
            <a:off x="3990975" y="633413"/>
            <a:ext cx="1579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900"/>
              <a:buFont typeface="Montserrat"/>
              <a:buNone/>
            </a:pPr>
            <a:r>
              <a:rPr lang="en" sz="1900" b="1" i="0" u="none" strike="noStrike" cap="none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HCL GUVI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9"/>
          <p:cNvSpPr/>
          <p:nvPr/>
        </p:nvSpPr>
        <p:spPr>
          <a:xfrm>
            <a:off x="3511550" y="955675"/>
            <a:ext cx="2084400" cy="1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93939"/>
              </a:buClr>
              <a:buSzPts val="900"/>
              <a:buFont typeface="Montserrat SemiBold"/>
              <a:buNone/>
            </a:pPr>
            <a:r>
              <a:rPr lang="en" sz="900" b="0" i="0" u="none" strike="noStrike" cap="none" dirty="0">
                <a:solidFill>
                  <a:srgbClr val="39393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 Proven Learning Ecosystem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9"/>
          <p:cNvSpPr/>
          <p:nvPr/>
        </p:nvSpPr>
        <p:spPr>
          <a:xfrm>
            <a:off x="6986588" y="3533775"/>
            <a:ext cx="13098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2024: Guinness World Record for most users to take an AI lesson within 24 hours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9"/>
          <p:cNvSpPr/>
          <p:nvPr/>
        </p:nvSpPr>
        <p:spPr>
          <a:xfrm>
            <a:off x="6986588" y="3886200"/>
            <a:ext cx="12432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2021: Guinness World Record for training 1.1 lakhs people on AI within 24 hours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9"/>
          <p:cNvSpPr/>
          <p:nvPr/>
        </p:nvSpPr>
        <p:spPr>
          <a:xfrm>
            <a:off x="4161390" y="4697482"/>
            <a:ext cx="1314600" cy="2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25" tIns="625" rIns="625" bIns="6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93939"/>
              </a:buClr>
              <a:buSzPts val="1200"/>
              <a:buFont typeface="Montserrat SemiBold"/>
              <a:buNone/>
            </a:pPr>
            <a:r>
              <a:rPr lang="en" sz="1200" b="0" i="0" u="none" strike="noStrike" cap="none">
                <a:solidFill>
                  <a:srgbClr val="39393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3M+ Learners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02271AB-7226-EF42-C9E5-DEEC641E4A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005" y="161294"/>
            <a:ext cx="2248186" cy="505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207</Words>
  <Application>Microsoft Office PowerPoint</Application>
  <PresentationFormat>On-screen Show (16:9)</PresentationFormat>
  <Paragraphs>61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Montserrat</vt:lpstr>
      <vt:lpstr>Montserrat Medium</vt:lpstr>
      <vt:lpstr>Montserrat SemiBold</vt:lpstr>
      <vt:lpstr>Calibri</vt:lpstr>
      <vt:lpstr>Simple Light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cp:lastModifiedBy>hp</cp:lastModifiedBy>
  <cp:revision>22</cp:revision>
  <dcterms:modified xsi:type="dcterms:W3CDTF">2026-08-03T04:55:19Z</dcterms:modified>
</cp:coreProperties>
</file>